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latin typeface="Calibri"/>
              </a:rPr>
              <a:t>nDCG@10 on the current corpus</a:t>
            </a:r>
          </a:p>
        </c:rich>
      </c:tx>
      <c:layout/>
      <c:overlay val="0"/>
    </c:title>
    <c:autoTitleDeleted val="0"/>
    <c:plotArea>
      <c:barChart>
        <c:barDir val="col"/>
        <c:grouping val="clustered"/>
        <c:ser>
          <c:idx val="0"/>
          <c:order val="0"/>
          <c:tx>
            <c:strRef>
              <c:f>Sheet1!$B$1</c:f>
              <c:strCache>
                <c:ptCount val="1"/>
                <c:pt idx="0">
                  <c:v>nDCG@10</c:v>
                </c:pt>
              </c:strCache>
            </c:strRef>
          </c:tx>
          <c:spPr>
            <a:solidFill>
              <a:srgbClr val="1B7FAE"/>
            </a:solidFill>
          </c:spPr>
          <c:cat>
            <c:strRef>
              <c:f>Sheet1!$A$2:$A$5</c:f>
              <c:strCache>
                <c:ptCount val="4"/>
                <c:pt idx="0">
                  <c:v>vector</c:v>
                </c:pt>
                <c:pt idx="1">
                  <c:v>pearson</c:v>
                </c:pt>
                <c:pt idx="2">
                  <c:v>hybrid</c:v>
                </c:pt>
                <c:pt idx="3">
                  <c:v>hybrid_rerank</c:v>
                </c:pt>
              </c:strCache>
            </c:strRef>
          </c:cat>
          <c:val>
            <c:numRef>
              <c:f>Sheet1!$B$2:$B$5</c:f>
              <c:numCache>
                <c:formatCode>General</c:formatCode>
                <c:ptCount val="4"/>
                <c:pt idx="0">
                  <c:v>0.339</c:v>
                </c:pt>
                <c:pt idx="1">
                  <c:v>0.337</c:v>
                </c:pt>
                <c:pt idx="2">
                  <c:v>0.301</c:v>
                </c:pt>
                <c:pt idx="3">
                  <c:v>0.117</c:v>
                </c:pt>
              </c:numCache>
            </c:numRef>
          </c:val>
        </c:ser>
        <c:dLbls>
          <c:numFmt formatCode="0.000" sourceLinked="0"/>
          <c:txPr>
            <a:bodyPr/>
            <a:lstStyle/>
            <a:p>
              <a:pPr>
                <a:defRPr sz="1000">
                  <a:latin typeface="Calibri"/>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txPr>
          <a:bodyPr/>
          <a:lstStyle/>
          <a:p>
            <a:pPr>
              <a:defRPr sz="1000">
                <a:latin typeface="Calibri"/>
              </a:defRPr>
            </a:pPr>
          </a:p>
        </c:txPr>
        <c:crossAx val="-2113994440"/>
        <c:crosses val="autoZero"/>
        <c:auto val="1"/>
        <c:lblAlgn val="ctr"/>
        <c:lblOffset val="100"/>
        <c:noMultiLvlLbl val="0"/>
      </c:catAx>
      <c:valAx>
        <c:axId val="-2113994440"/>
        <c:scaling>
          <c:max val="0.4"/>
          <c:min val="0.0"/>
        </c:scaling>
        <c:delete val="0"/>
        <c:axPos val="l"/>
        <c:majorTickMark val="out"/>
        <c:minorTickMark val="none"/>
        <c:tickLblPos val="nextTo"/>
        <c:txPr>
          <a:bodyPr/>
          <a:lstStyle/>
          <a:p>
            <a:pPr>
              <a:defRPr sz="900">
                <a:latin typeface="Calibri"/>
              </a:defRPr>
            </a:pPr>
          </a:p>
        </c:txPr>
        <c:crossAx val="-2068027336"/>
        <c:crosses val="autoZero"/>
        <c:majorUnit val="0.1"/>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who I am, what the artefact is. One sentence to plant the thesis - this is not only 'search works', it is measured quality plus documented decisions. Date and duration are on screen so I keep the pace.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task as engineering, not as a demo. There are two equal halves: the MCP server an agent can call, and the retrieval pipeline with an evaluation contour. The second half is what the talk defends.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numbers to anchor the talk: corpus size, quality of the current leader, router coverage, metadata hit rate. Then the stack in one breath. The counts are exact: 154,560 code chunks plus 25,026 metadata chunks.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loops. The important design point is that BM25 is a global index over all chunks, not a reranker over cosine candidates - otherwise RRF would be meaningless. The reranker sits after fusion and is off by default.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corpus is the change that moved the metrics. Procedure chunks are coherent units, so cosine improved and file-level recall went from 0.310 to 0.523. The same repetition of procedure names and paths weakened the lexical signal. Metadata came from XML, which lifted BM25 Hit@3 from 93.0% to 99.7%.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tools, one contract. The interesting part is not the count, it is that tool choice is explicit and testable. Be honest about the router: the blind set scored 75% before the patches, which is below my own gate, so I published it. After the patches it is 20/20 - but on a set that is no longer blind.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RRF is the central past design decision. We fuse positions, not scores, so no weights are tuned. On the old corpus this gave a +19% gain over vector. On the current corpus the order flipped - that is slide 10, and it is recorded in ADR 0009.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negative result. The reranker makes quality worse on this domain and is much slower, so it stays behind a flag. Keeping the losing row in the table is the point: the pipeline was not massaged until it looked good.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methodology matters more than the numbers. The first gold-set version had a defect in how relevance was scored, it was fixed and written down in ADR 0003. The spread across four runs is reported everywhere, so nobody has to trust a single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top to bottom: vector 0.339, pearson 0.337, hybrid 0.301, rerank 0.117. Paired comparison: +0.037 with a confidence interval that crosses zero and p = 0.154, so I did not flip the default. The 2x2 ablation then explains why the leader moved: with symbolic chunking hybrid wins, with procedural chunking vector wins, and the export effect at symbolic chunking is inside run noise. One cell is missing because the old dump no longer exists, so additivity is assumed.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ADRs, five honest limitations. On a defence this is a strength: it shows where the solution stops. The cold start and the missing incremental indexing are the two things a production user would hit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thesis: measurable retrieval plus decisions that are written down. Then the next steps, and where to find the code. Hand over to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600200"/>
            <a:ext cx="11185855" cy="1280160"/>
          </a:xfrm>
          <a:prstGeom prst="rect">
            <a:avLst/>
          </a:prstGeom>
          <a:noFill/>
        </p:spPr>
        <p:txBody>
          <a:bodyPr wrap="square" anchor="t">
            <a:spAutoFit/>
          </a:bodyPr>
          <a:lstStyle/>
          <a:p>
            <a:pPr algn="l">
              <a:lnSpc>
                <a:spcPct val="100000"/>
              </a:lnSpc>
            </a:pPr>
            <a:r>
              <a:rPr sz="5000" b="1">
                <a:solidFill>
                  <a:srgbClr val="FFFFFF"/>
                </a:solidFill>
                <a:latin typeface="Calibri"/>
              </a:rPr>
              <a:t>MCP + RAG for 1C</a:t>
            </a:r>
          </a:p>
        </p:txBody>
      </p:sp>
      <p:sp>
        <p:nvSpPr>
          <p:cNvPr id="4" name="TextBox 3"/>
          <p:cNvSpPr txBox="1"/>
          <p:nvPr/>
        </p:nvSpPr>
        <p:spPr>
          <a:xfrm>
            <a:off x="502920" y="2743200"/>
            <a:ext cx="11185855" cy="1188720"/>
          </a:xfrm>
          <a:prstGeom prst="rect">
            <a:avLst/>
          </a:prstGeom>
          <a:noFill/>
        </p:spPr>
        <p:txBody>
          <a:bodyPr wrap="square" anchor="t">
            <a:spAutoFit/>
          </a:bodyPr>
          <a:lstStyle/>
          <a:p>
            <a:pPr algn="l">
              <a:lnSpc>
                <a:spcPct val="115000"/>
              </a:lnSpc>
            </a:pPr>
            <a:r>
              <a:rPr sz="2200" b="0">
                <a:solidFill>
                  <a:srgbClr val="CFE4EF"/>
                </a:solidFill>
                <a:latin typeface="Calibri"/>
              </a:rPr>
              <a:t>Local-first search over BSL business logic and configuration metadata:
hybrid BM25 + cosine via RRF, and an honest evaluation</a:t>
            </a:r>
          </a:p>
        </p:txBody>
      </p:sp>
      <p:sp>
        <p:nvSpPr>
          <p:cNvPr id="5" name="Rectangle 4"/>
          <p:cNvSpPr/>
          <p:nvPr/>
        </p:nvSpPr>
        <p:spPr>
          <a:xfrm>
            <a:off x="502920" y="4224528"/>
            <a:ext cx="2011680" cy="45720"/>
          </a:xfrm>
          <a:prstGeom prst="rect">
            <a:avLst/>
          </a:prstGeom>
          <a:solidFill>
            <a:srgbClr val="6FB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4480560"/>
            <a:ext cx="7315200" cy="365760"/>
          </a:xfrm>
          <a:prstGeom prst="rect">
            <a:avLst/>
          </a:prstGeom>
          <a:noFill/>
        </p:spPr>
        <p:txBody>
          <a:bodyPr wrap="square" anchor="t">
            <a:spAutoFit/>
          </a:bodyPr>
          <a:lstStyle/>
          <a:p>
            <a:pPr algn="l">
              <a:lnSpc>
                <a:spcPct val="100000"/>
              </a:lnSpc>
            </a:pPr>
            <a:r>
              <a:rPr sz="2000" b="1">
                <a:solidFill>
                  <a:srgbClr val="FFFFFF"/>
                </a:solidFill>
                <a:latin typeface="Calibri"/>
              </a:rPr>
              <a:t>Sergey Matyukhin</a:t>
            </a:r>
          </a:p>
        </p:txBody>
      </p:sp>
      <p:sp>
        <p:nvSpPr>
          <p:cNvPr id="7" name="TextBox 6"/>
          <p:cNvSpPr txBox="1"/>
          <p:nvPr/>
        </p:nvSpPr>
        <p:spPr>
          <a:xfrm>
            <a:off x="502920" y="4892040"/>
            <a:ext cx="10515600" cy="1097280"/>
          </a:xfrm>
          <a:prstGeom prst="rect">
            <a:avLst/>
          </a:prstGeom>
          <a:noFill/>
        </p:spPr>
        <p:txBody>
          <a:bodyPr wrap="square" anchor="t">
            <a:spAutoFit/>
          </a:bodyPr>
          <a:lstStyle/>
          <a:p>
            <a:pPr algn="l">
              <a:lnSpc>
                <a:spcPct val="120000"/>
              </a:lnSpc>
            </a:pPr>
            <a:r>
              <a:rPr sz="1300" b="0">
                <a:solidFill>
                  <a:srgbClr val="B9D7E6"/>
                </a:solidFill>
                <a:latin typeface="Calibri"/>
              </a:rPr>
              <a:t>github.com/Smaturus/1c-mcp-rag-search
MCP Python SDK  ·  Chroma  ·  multilingual-e5-small  ·  BM25  ·  RRF  ·  flashrank</a:t>
            </a:r>
          </a:p>
        </p:txBody>
      </p:sp>
      <p:sp>
        <p:nvSpPr>
          <p:cNvPr id="8" name="TextBox 7"/>
          <p:cNvSpPr txBox="1"/>
          <p:nvPr/>
        </p:nvSpPr>
        <p:spPr>
          <a:xfrm>
            <a:off x="502920" y="5897880"/>
            <a:ext cx="10515600" cy="457200"/>
          </a:xfrm>
          <a:prstGeom prst="rect">
            <a:avLst/>
          </a:prstGeom>
          <a:noFill/>
        </p:spPr>
        <p:txBody>
          <a:bodyPr wrap="square" anchor="t">
            <a:spAutoFit/>
          </a:bodyPr>
          <a:lstStyle/>
          <a:p>
            <a:pPr algn="l">
              <a:lnSpc>
                <a:spcPct val="120000"/>
              </a:lnSpc>
            </a:pPr>
            <a:r>
              <a:rPr sz="1300" b="0">
                <a:solidFill>
                  <a:srgbClr val="8FB8CF"/>
                </a:solidFill>
                <a:latin typeface="Calibri"/>
              </a:rPr>
              <a:t>Defence · 3 November 2026 · 10 minutes +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The problem, and what I built</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2</a:t>
            </a:r>
          </a:p>
        </p:txBody>
      </p:sp>
      <p:sp>
        <p:nvSpPr>
          <p:cNvPr id="6" name="TextBox 5"/>
          <p:cNvSpPr txBox="1"/>
          <p:nvPr/>
        </p:nvSpPr>
        <p:spPr>
          <a:xfrm>
            <a:off x="502920" y="1097280"/>
            <a:ext cx="5394960" cy="457200"/>
          </a:xfrm>
          <a:prstGeom prst="rect">
            <a:avLst/>
          </a:prstGeom>
          <a:noFill/>
        </p:spPr>
        <p:txBody>
          <a:bodyPr wrap="square" anchor="t">
            <a:spAutoFit/>
          </a:bodyPr>
          <a:lstStyle/>
          <a:p>
            <a:pPr algn="l">
              <a:lnSpc>
                <a:spcPct val="100000"/>
              </a:lnSpc>
            </a:pPr>
            <a:r>
              <a:rPr sz="2000" b="1">
                <a:solidFill>
                  <a:srgbClr val="0F3D5C"/>
                </a:solidFill>
                <a:latin typeface="Calibri"/>
              </a:rPr>
              <a:t>Problem</a:t>
            </a:r>
          </a:p>
        </p:txBody>
      </p:sp>
      <p:sp>
        <p:nvSpPr>
          <p:cNvPr id="7" name="TextBox 6"/>
          <p:cNvSpPr txBox="1"/>
          <p:nvPr/>
        </p:nvSpPr>
        <p:spPr>
          <a:xfrm>
            <a:off x="502920" y="1554480"/>
            <a:ext cx="5349240" cy="4206240"/>
          </a:xfrm>
          <a:prstGeom prst="rect">
            <a:avLst/>
          </a:prstGeom>
          <a:noFill/>
        </p:spPr>
        <p:txBody>
          <a:bodyPr wrap="square" anchor="ctr">
            <a:spAutoFit/>
          </a:bodyPr>
          <a:lstStyle/>
          <a:p>
            <a:pPr algn="l">
              <a:lnSpc>
                <a:spcPct val="100000"/>
              </a:lnSpc>
            </a:pPr>
            <a:r>
              <a:rPr sz="1600" b="0">
                <a:solidFill>
                  <a:srgbClr val="1F2A33"/>
                </a:solidFill>
                <a:latin typeface="Calibri"/>
              </a:rPr>
              <a:t/>
            </a:r>
          </a:p>
          <a:p>
            <a:pPr marL="240000" indent="-240000">
              <a:lnSpc>
                <a:spcPct val="100000"/>
              </a:lnSpc>
              <a:spcBef>
                <a:spcPts val="500"/>
              </a:spcBef>
              <a:spcAft>
                <a:spcPts val="300"/>
              </a:spcAft>
            </a:pPr>
            <a:r>
              <a:rPr sz="1600" b="0">
                <a:solidFill>
                  <a:srgbClr val="1F2A33"/>
                </a:solidFill>
                <a:latin typeface="Calibri"/>
              </a:rPr>
              <a:t>•  A 1C configuration dump is thousands of .bsl modules plus a multi-megabyte metadata report</a:t>
            </a:r>
          </a:p>
          <a:p>
            <a:pPr marL="240000" indent="-240000">
              <a:lnSpc>
                <a:spcPct val="100000"/>
              </a:lnSpc>
              <a:spcBef>
                <a:spcPts val="500"/>
              </a:spcBef>
              <a:spcAft>
                <a:spcPts val="300"/>
              </a:spcAft>
            </a:pPr>
            <a:r>
              <a:rPr sz="1600" b="0">
                <a:solidFill>
                  <a:srgbClr val="1F2A33"/>
                </a:solidFill>
                <a:latin typeface="Calibri"/>
              </a:rPr>
              <a:t>•  grep matches text, not meaning; an exact handler name and an intent question need different tools</a:t>
            </a:r>
          </a:p>
          <a:p>
            <a:pPr marL="240000" indent="-240000">
              <a:lnSpc>
                <a:spcPct val="100000"/>
              </a:lnSpc>
              <a:spcBef>
                <a:spcPts val="500"/>
              </a:spcBef>
              <a:spcAft>
                <a:spcPts val="300"/>
              </a:spcAft>
            </a:pPr>
            <a:r>
              <a:rPr sz="1600" b="0">
                <a:solidFill>
                  <a:srgbClr val="1F2A33"/>
                </a:solidFill>
                <a:latin typeface="Calibri"/>
              </a:rPr>
              <a:t>•  Hosted search stacks mean deployment work and data leaving the machine</a:t>
            </a:r>
          </a:p>
          <a:p>
            <a:pPr marL="240000" indent="-240000">
              <a:lnSpc>
                <a:spcPct val="100000"/>
              </a:lnSpc>
              <a:spcBef>
                <a:spcPts val="500"/>
              </a:spcBef>
              <a:spcAft>
                <a:spcPts val="300"/>
              </a:spcAft>
            </a:pPr>
            <a:r>
              <a:rPr sz="1600" b="0">
                <a:solidFill>
                  <a:srgbClr val="1F2A33"/>
                </a:solidFill>
                <a:latin typeface="Calibri"/>
              </a:rPr>
              <a:t>•  An LLM agent needs a tool whose quality is measured, not assumed</a:t>
            </a:r>
          </a:p>
        </p:txBody>
      </p:sp>
      <p:sp>
        <p:nvSpPr>
          <p:cNvPr id="8" name="Rectangle 7"/>
          <p:cNvSpPr/>
          <p:nvPr/>
        </p:nvSpPr>
        <p:spPr>
          <a:xfrm>
            <a:off x="6080760" y="1188720"/>
            <a:ext cx="9525" cy="4526280"/>
          </a:xfrm>
          <a:prstGeom prst="rect">
            <a:avLst/>
          </a:prstGeom>
          <a:solidFill>
            <a:srgbClr val="D3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097280"/>
            <a:ext cx="5349240" cy="457200"/>
          </a:xfrm>
          <a:prstGeom prst="rect">
            <a:avLst/>
          </a:prstGeom>
          <a:noFill/>
        </p:spPr>
        <p:txBody>
          <a:bodyPr wrap="square" anchor="t">
            <a:spAutoFit/>
          </a:bodyPr>
          <a:lstStyle/>
          <a:p>
            <a:pPr algn="l">
              <a:lnSpc>
                <a:spcPct val="100000"/>
              </a:lnSpc>
            </a:pPr>
            <a:r>
              <a:rPr sz="2000" b="1">
                <a:solidFill>
                  <a:srgbClr val="0F3D5C"/>
                </a:solidFill>
                <a:latin typeface="Calibri"/>
              </a:rPr>
              <a:t>What I built</a:t>
            </a:r>
          </a:p>
        </p:txBody>
      </p:sp>
      <p:sp>
        <p:nvSpPr>
          <p:cNvPr id="10" name="TextBox 9"/>
          <p:cNvSpPr txBox="1"/>
          <p:nvPr/>
        </p:nvSpPr>
        <p:spPr>
          <a:xfrm>
            <a:off x="6355080" y="1554480"/>
            <a:ext cx="5349240" cy="4206240"/>
          </a:xfrm>
          <a:prstGeom prst="rect">
            <a:avLst/>
          </a:prstGeom>
          <a:noFill/>
        </p:spPr>
        <p:txBody>
          <a:bodyPr wrap="square" anchor="ctr">
            <a:spAutoFit/>
          </a:bodyPr>
          <a:lstStyle/>
          <a:p>
            <a:pPr algn="l">
              <a:lnSpc>
                <a:spcPct val="100000"/>
              </a:lnSpc>
            </a:pPr>
            <a:r>
              <a:rPr sz="1600" b="0">
                <a:solidFill>
                  <a:srgbClr val="1F2A33"/>
                </a:solidFill>
                <a:latin typeface="Calibri"/>
              </a:rPr>
              <a:t/>
            </a:r>
          </a:p>
          <a:p>
            <a:pPr marL="240000" indent="-240000">
              <a:lnSpc>
                <a:spcPct val="100000"/>
              </a:lnSpc>
              <a:spcBef>
                <a:spcPts val="500"/>
              </a:spcBef>
              <a:spcAft>
                <a:spcPts val="300"/>
              </a:spcAft>
            </a:pPr>
            <a:r>
              <a:rPr sz="1600" b="0">
                <a:solidFill>
                  <a:srgbClr val="1F2A33"/>
                </a:solidFill>
                <a:latin typeface="Calibri"/>
              </a:rPr>
              <a:t>•  A local MCP server over stdio: 9 tools, including an explainable router</a:t>
            </a:r>
          </a:p>
          <a:p>
            <a:pPr marL="240000" indent="-240000">
              <a:lnSpc>
                <a:spcPct val="100000"/>
              </a:lnSpc>
              <a:spcBef>
                <a:spcPts val="500"/>
              </a:spcBef>
              <a:spcAft>
                <a:spcPts val="300"/>
              </a:spcAft>
            </a:pPr>
            <a:r>
              <a:rPr sz="1600" b="0">
                <a:solidFill>
                  <a:srgbClr val="1F2A33"/>
                </a:solidFill>
                <a:latin typeface="Calibri"/>
              </a:rPr>
              <a:t>•  Fully local retrieval: e5-small embeddings plus Chroma, CPU only, no external APIs</a:t>
            </a:r>
          </a:p>
          <a:p>
            <a:pPr marL="240000" indent="-240000">
              <a:lnSpc>
                <a:spcPct val="100000"/>
              </a:lnSpc>
              <a:spcBef>
                <a:spcPts val="500"/>
              </a:spcBef>
              <a:spcAft>
                <a:spcPts val="300"/>
              </a:spcAft>
            </a:pPr>
            <a:r>
              <a:rPr sz="1600" b="0">
                <a:solidFill>
                  <a:srgbClr val="1F2A33"/>
                </a:solidFill>
                <a:latin typeface="Calibri"/>
              </a:rPr>
              <a:t>•  Hybrid search: cosine and a global BM25 index, fused with Reciprocal Rank Fusion</a:t>
            </a:r>
          </a:p>
          <a:p>
            <a:pPr marL="240000" indent="-240000">
              <a:lnSpc>
                <a:spcPct val="100000"/>
              </a:lnSpc>
              <a:spcBef>
                <a:spcPts val="500"/>
              </a:spcBef>
              <a:spcAft>
                <a:spcPts val="300"/>
              </a:spcAft>
            </a:pPr>
            <a:r>
              <a:rPr sz="1600" b="0">
                <a:solidFill>
                  <a:srgbClr val="1F2A33"/>
                </a:solidFill>
                <a:latin typeface="Calibri"/>
              </a:rPr>
              <a:t>•  Measured: gold-set v2, 70 queries, file-level relevance, 4 independent runs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The project in numbers</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3</a:t>
            </a:r>
          </a:p>
        </p:txBody>
      </p:sp>
      <p:sp>
        <p:nvSpPr>
          <p:cNvPr id="6" name="Rounded Rectangle 5"/>
          <p:cNvSpPr/>
          <p:nvPr/>
        </p:nvSpPr>
        <p:spPr>
          <a:xfrm>
            <a:off x="502920" y="1188720"/>
            <a:ext cx="2651760" cy="1508760"/>
          </a:xfrm>
          <a:prstGeom prst="roundRect">
            <a:avLst>
              <a:gd name="adj" fmla="val 8000"/>
            </a:avLst>
          </a:prstGeom>
          <a:solidFill>
            <a:srgbClr val="EAF2F7"/>
          </a:solidFill>
          <a:ln>
            <a:solidFill>
              <a:srgbClr val="D3E2E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3000" b="1">
                <a:solidFill>
                  <a:srgbClr val="0F3D5C"/>
                </a:solidFill>
                <a:latin typeface="Calibri"/>
              </a:rPr>
              <a:t>179,586</a:t>
            </a:r>
          </a:p>
          <a:p>
            <a:pPr>
              <a:spcBef>
                <a:spcPts val="200"/>
              </a:spcBef>
            </a:pPr>
            <a:r>
              <a:rPr sz="1200">
                <a:solidFill>
                  <a:srgbClr val="5B6770"/>
                </a:solidFill>
                <a:latin typeface="Calibri"/>
              </a:rPr>
              <a:t>chunks in the index</a:t>
            </a:r>
          </a:p>
        </p:txBody>
      </p:sp>
      <p:sp>
        <p:nvSpPr>
          <p:cNvPr id="7" name="Rounded Rectangle 6"/>
          <p:cNvSpPr/>
          <p:nvPr/>
        </p:nvSpPr>
        <p:spPr>
          <a:xfrm>
            <a:off x="3319272" y="1188720"/>
            <a:ext cx="2651760" cy="1508760"/>
          </a:xfrm>
          <a:prstGeom prst="roundRect">
            <a:avLst>
              <a:gd name="adj" fmla="val 8000"/>
            </a:avLst>
          </a:prstGeom>
          <a:solidFill>
            <a:srgbClr val="EAF2F7"/>
          </a:solidFill>
          <a:ln>
            <a:solidFill>
              <a:srgbClr val="D3E2E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3000" b="1">
                <a:solidFill>
                  <a:srgbClr val="0F3D5C"/>
                </a:solidFill>
                <a:latin typeface="Calibri"/>
              </a:rPr>
              <a:t>0.339</a:t>
            </a:r>
          </a:p>
          <a:p>
            <a:pPr>
              <a:spcBef>
                <a:spcPts val="200"/>
              </a:spcBef>
            </a:pPr>
            <a:r>
              <a:rPr sz="1200">
                <a:solidFill>
                  <a:srgbClr val="5B6770"/>
                </a:solidFill>
                <a:latin typeface="Calibri"/>
              </a:rPr>
              <a:t>nDCG@10, vector (leader)</a:t>
            </a:r>
          </a:p>
        </p:txBody>
      </p:sp>
      <p:sp>
        <p:nvSpPr>
          <p:cNvPr id="8" name="Rounded Rectangle 7"/>
          <p:cNvSpPr/>
          <p:nvPr/>
        </p:nvSpPr>
        <p:spPr>
          <a:xfrm>
            <a:off x="6135624" y="1188720"/>
            <a:ext cx="2651760" cy="1508760"/>
          </a:xfrm>
          <a:prstGeom prst="roundRect">
            <a:avLst>
              <a:gd name="adj" fmla="val 8000"/>
            </a:avLst>
          </a:prstGeom>
          <a:solidFill>
            <a:srgbClr val="EAF2F7"/>
          </a:solidFill>
          <a:ln>
            <a:solidFill>
              <a:srgbClr val="D3E2E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3000" b="1">
                <a:solidFill>
                  <a:srgbClr val="0F3D5C"/>
                </a:solidFill>
                <a:latin typeface="Calibri"/>
              </a:rPr>
              <a:t>68/68</a:t>
            </a:r>
          </a:p>
          <a:p>
            <a:pPr>
              <a:spcBef>
                <a:spcPts val="200"/>
              </a:spcBef>
            </a:pPr>
            <a:r>
              <a:rPr sz="1200">
                <a:solidFill>
                  <a:srgbClr val="5B6770"/>
                </a:solidFill>
                <a:latin typeface="Calibri"/>
              </a:rPr>
              <a:t>router regression cases</a:t>
            </a:r>
          </a:p>
        </p:txBody>
      </p:sp>
      <p:sp>
        <p:nvSpPr>
          <p:cNvPr id="9" name="Rounded Rectangle 8"/>
          <p:cNvSpPr/>
          <p:nvPr/>
        </p:nvSpPr>
        <p:spPr>
          <a:xfrm>
            <a:off x="8951976" y="1188720"/>
            <a:ext cx="2651760" cy="1508760"/>
          </a:xfrm>
          <a:prstGeom prst="roundRect">
            <a:avLst>
              <a:gd name="adj" fmla="val 8000"/>
            </a:avLst>
          </a:prstGeom>
          <a:solidFill>
            <a:srgbClr val="EAF2F7"/>
          </a:solidFill>
          <a:ln>
            <a:solidFill>
              <a:srgbClr val="D3E2E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3000" b="1">
                <a:solidFill>
                  <a:srgbClr val="0F3D5C"/>
                </a:solidFill>
                <a:latin typeface="Calibri"/>
              </a:rPr>
              <a:t>99.7 %</a:t>
            </a:r>
          </a:p>
          <a:p>
            <a:pPr>
              <a:spcBef>
                <a:spcPts val="200"/>
              </a:spcBef>
            </a:pPr>
            <a:r>
              <a:rPr sz="1200">
                <a:solidFill>
                  <a:srgbClr val="5B6770"/>
                </a:solidFill>
                <a:latin typeface="Calibri"/>
              </a:rPr>
              <a:t>metadata BM25 Hit@3</a:t>
            </a:r>
          </a:p>
        </p:txBody>
      </p:sp>
      <p:sp>
        <p:nvSpPr>
          <p:cNvPr id="10" name="TextBox 9"/>
          <p:cNvSpPr txBox="1"/>
          <p:nvPr/>
        </p:nvSpPr>
        <p:spPr>
          <a:xfrm>
            <a:off x="502920" y="3017520"/>
            <a:ext cx="11185855" cy="365760"/>
          </a:xfrm>
          <a:prstGeom prst="rect">
            <a:avLst/>
          </a:prstGeom>
          <a:noFill/>
        </p:spPr>
        <p:txBody>
          <a:bodyPr wrap="square" anchor="t">
            <a:spAutoFit/>
          </a:bodyPr>
          <a:lstStyle/>
          <a:p>
            <a:pPr algn="l">
              <a:lnSpc>
                <a:spcPct val="100000"/>
              </a:lnSpc>
            </a:pPr>
            <a:r>
              <a:rPr sz="2000" b="1">
                <a:solidFill>
                  <a:srgbClr val="0F3D5C"/>
                </a:solidFill>
                <a:latin typeface="Calibri"/>
              </a:rPr>
              <a:t>Stack</a:t>
            </a:r>
          </a:p>
        </p:txBody>
      </p:sp>
      <p:sp>
        <p:nvSpPr>
          <p:cNvPr id="11" name="TextBox 10"/>
          <p:cNvSpPr txBox="1"/>
          <p:nvPr/>
        </p:nvSpPr>
        <p:spPr>
          <a:xfrm>
            <a:off x="502920" y="3474720"/>
            <a:ext cx="11185855" cy="2651760"/>
          </a:xfrm>
          <a:prstGeom prst="rect">
            <a:avLst/>
          </a:prstGeom>
          <a:noFill/>
        </p:spPr>
        <p:txBody>
          <a:bodyPr wrap="square" anchor="ctr">
            <a:spAutoFit/>
          </a:bodyPr>
          <a:lstStyle/>
          <a:p>
            <a:pPr algn="l">
              <a:lnSpc>
                <a:spcPct val="100000"/>
              </a:lnSpc>
            </a:pPr>
            <a:r>
              <a:rPr sz="1500" b="0">
                <a:solidFill>
                  <a:srgbClr val="1F2A33"/>
                </a:solidFill>
                <a:latin typeface="Calibri"/>
              </a:rPr>
              <a:t/>
            </a:r>
          </a:p>
          <a:p>
            <a:pPr marL="240000" indent="-240000">
              <a:lnSpc>
                <a:spcPct val="100000"/>
              </a:lnSpc>
              <a:spcBef>
                <a:spcPts val="900"/>
              </a:spcBef>
              <a:spcAft>
                <a:spcPts val="300"/>
              </a:spcAft>
            </a:pPr>
            <a:r>
              <a:rPr sz="1500" b="0">
                <a:solidFill>
                  <a:srgbClr val="1F2A33"/>
                </a:solidFill>
                <a:latin typeface="Calibri"/>
              </a:rPr>
              <a:t>•  Embeddings: intfloat/multilingual-e5-small, 384 dimensions, 512-token limit, query:/passage: prefixes</a:t>
            </a:r>
          </a:p>
          <a:p>
            <a:pPr marL="240000" indent="-240000">
              <a:lnSpc>
                <a:spcPct val="100000"/>
              </a:lnSpc>
              <a:spcBef>
                <a:spcPts val="900"/>
              </a:spcBef>
              <a:spcAft>
                <a:spcPts val="300"/>
              </a:spcAft>
            </a:pPr>
            <a:r>
              <a:rPr sz="1500" b="0">
                <a:solidFill>
                  <a:srgbClr val="1F2A33"/>
                </a:solidFill>
                <a:latin typeface="Calibri"/>
              </a:rPr>
              <a:t>•  Storage: Chroma with HNSW cosine; lexical side: a custom BM25 inverted index over all chunks</a:t>
            </a:r>
          </a:p>
          <a:p>
            <a:pPr marL="240000" indent="-240000">
              <a:lnSpc>
                <a:spcPct val="100000"/>
              </a:lnSpc>
              <a:spcBef>
                <a:spcPts val="900"/>
              </a:spcBef>
              <a:spcAft>
                <a:spcPts val="300"/>
              </a:spcAft>
            </a:pPr>
            <a:r>
              <a:rPr sz="1500" b="0">
                <a:solidFill>
                  <a:srgbClr val="1F2A33"/>
                </a:solidFill>
                <a:latin typeface="Calibri"/>
              </a:rPr>
              <a:t>•  Fusion: Reciprocal Rank Fusion, k = 60; optional flashrank cross-encoder, off by default</a:t>
            </a:r>
          </a:p>
          <a:p>
            <a:pPr marL="240000" indent="-240000">
              <a:lnSpc>
                <a:spcPct val="100000"/>
              </a:lnSpc>
              <a:spcBef>
                <a:spcPts val="900"/>
              </a:spcBef>
              <a:spcAft>
                <a:spcPts val="300"/>
              </a:spcAft>
            </a:pPr>
            <a:r>
              <a:rPr sz="1500" b="0">
                <a:solidFill>
                  <a:srgbClr val="1F2A33"/>
                </a:solidFill>
                <a:latin typeface="Calibri"/>
              </a:rPr>
              <a:t>•  Interface: MCP over stdio, 9 tools; evaluation: 70 queries x 4 configurations, 4 runs each</a:t>
            </a:r>
          </a:p>
          <a:p>
            <a:pPr marL="240000" indent="-240000">
              <a:lnSpc>
                <a:spcPct val="100000"/>
              </a:lnSpc>
              <a:spcBef>
                <a:spcPts val="900"/>
              </a:spcBef>
              <a:spcAft>
                <a:spcPts val="300"/>
              </a:spcAft>
            </a:pPr>
            <a:r>
              <a:rPr sz="1500" b="0">
                <a:solidFill>
                  <a:srgbClr val="1F2A33"/>
                </a:solidFill>
                <a:latin typeface="Calibri"/>
              </a:rPr>
              <a:t>•  Engineering: Python 3.11/3.12, 72 unit tests, ruff clean, mypy on 22 modules, complexity gate 143 blocks (avg 4.37, A); 40-60 ms/query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Architecture: two loops</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4</a:t>
            </a:r>
          </a:p>
        </p:txBody>
      </p:sp>
      <p:sp>
        <p:nvSpPr>
          <p:cNvPr id="6" name="TextBox 5"/>
          <p:cNvSpPr txBox="1"/>
          <p:nvPr/>
        </p:nvSpPr>
        <p:spPr>
          <a:xfrm>
            <a:off x="502920" y="914400"/>
            <a:ext cx="5486400" cy="365760"/>
          </a:xfrm>
          <a:prstGeom prst="rect">
            <a:avLst/>
          </a:prstGeom>
          <a:noFill/>
        </p:spPr>
        <p:txBody>
          <a:bodyPr wrap="square" anchor="t">
            <a:spAutoFit/>
          </a:bodyPr>
          <a:lstStyle/>
          <a:p>
            <a:pPr algn="l">
              <a:lnSpc>
                <a:spcPct val="100000"/>
              </a:lnSpc>
            </a:pPr>
            <a:r>
              <a:rPr sz="1500" b="1">
                <a:solidFill>
                  <a:srgbClr val="1B7FAE"/>
                </a:solidFill>
                <a:latin typeface="Calibri"/>
              </a:rPr>
              <a:t>Offline index build</a:t>
            </a:r>
          </a:p>
        </p:txBody>
      </p:sp>
      <p:sp>
        <p:nvSpPr>
          <p:cNvPr id="7" name="Rounded Rectangle 6"/>
          <p:cNvSpPr/>
          <p:nvPr/>
        </p:nvSpPr>
        <p:spPr>
          <a:xfrm>
            <a:off x="502920" y="1298448"/>
            <a:ext cx="2148840" cy="777240"/>
          </a:xfrm>
          <a:prstGeom prst="roundRect">
            <a:avLst>
              <a:gd name="adj" fmla="val 12000"/>
            </a:avLst>
          </a:prstGeom>
          <a:solidFill>
            <a:srgbClr val="EAF2F7"/>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1C configuration</a:t>
            </a:r>
          </a:p>
          <a:p>
            <a:pPr algn="ctr"/>
            <a:r>
              <a:rPr sz="1200" b="0">
                <a:solidFill>
                  <a:srgbClr val="1F2A33"/>
                </a:solidFill>
                <a:latin typeface="Calibri"/>
              </a:rPr>
              <a:t>dump</a:t>
            </a:r>
          </a:p>
        </p:txBody>
      </p:sp>
      <p:sp>
        <p:nvSpPr>
          <p:cNvPr id="8" name="Right Arrow 7"/>
          <p:cNvSpPr/>
          <p:nvPr/>
        </p:nvSpPr>
        <p:spPr>
          <a:xfrm>
            <a:off x="2724912" y="1572768"/>
            <a:ext cx="219456" cy="228600"/>
          </a:xfrm>
          <a:prstGeom prst="right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017520" y="1298448"/>
            <a:ext cx="1874519" cy="777240"/>
          </a:xfrm>
          <a:prstGeom prst="roundRect">
            <a:avLst>
              <a:gd name="adj" fmla="val 12000"/>
            </a:avLst>
          </a:prstGeom>
          <a:solidFill>
            <a:srgbClr val="EAF2F7"/>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chunking</a:t>
            </a:r>
          </a:p>
          <a:p>
            <a:pPr algn="ctr"/>
            <a:r>
              <a:rPr sz="1200" b="0">
                <a:solidFill>
                  <a:srgbClr val="1F2A33"/>
                </a:solidFill>
                <a:latin typeface="Calibri"/>
              </a:rPr>
              <a:t>procedures</a:t>
            </a:r>
          </a:p>
        </p:txBody>
      </p:sp>
      <p:sp>
        <p:nvSpPr>
          <p:cNvPr id="10" name="Right Arrow 9"/>
          <p:cNvSpPr/>
          <p:nvPr/>
        </p:nvSpPr>
        <p:spPr>
          <a:xfrm>
            <a:off x="4965191" y="1572768"/>
            <a:ext cx="219456" cy="228600"/>
          </a:xfrm>
          <a:prstGeom prst="right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257799" y="1298448"/>
            <a:ext cx="1325880" cy="777240"/>
          </a:xfrm>
          <a:prstGeom prst="roundRect">
            <a:avLst>
              <a:gd name="adj" fmla="val 12000"/>
            </a:avLst>
          </a:prstGeom>
          <a:solidFill>
            <a:srgbClr val="EAF2F7"/>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e5</a:t>
            </a:r>
          </a:p>
          <a:p>
            <a:pPr algn="ctr"/>
            <a:r>
              <a:rPr sz="1200" b="0">
                <a:solidFill>
                  <a:srgbClr val="1F2A33"/>
                </a:solidFill>
                <a:latin typeface="Calibri"/>
              </a:rPr>
              <a:t>passage:</a:t>
            </a:r>
          </a:p>
        </p:txBody>
      </p:sp>
      <p:sp>
        <p:nvSpPr>
          <p:cNvPr id="12" name="Right Arrow 11"/>
          <p:cNvSpPr/>
          <p:nvPr/>
        </p:nvSpPr>
        <p:spPr>
          <a:xfrm>
            <a:off x="6656831" y="1572768"/>
            <a:ext cx="219456" cy="228600"/>
          </a:xfrm>
          <a:prstGeom prst="right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949439" y="1298448"/>
            <a:ext cx="1417320" cy="777240"/>
          </a:xfrm>
          <a:prstGeom prst="roundRect">
            <a:avLst>
              <a:gd name="adj" fmla="val 12000"/>
            </a:avLst>
          </a:prstGeom>
          <a:solidFill>
            <a:srgbClr val="EAF2F7"/>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Chroma</a:t>
            </a:r>
          </a:p>
          <a:p>
            <a:pPr algn="ctr"/>
            <a:r>
              <a:rPr sz="1200" b="0">
                <a:solidFill>
                  <a:srgbClr val="1F2A33"/>
                </a:solidFill>
                <a:latin typeface="Calibri"/>
              </a:rPr>
              <a:t>cosine</a:t>
            </a:r>
          </a:p>
        </p:txBody>
      </p:sp>
      <p:sp>
        <p:nvSpPr>
          <p:cNvPr id="14" name="Right Arrow 13"/>
          <p:cNvSpPr/>
          <p:nvPr/>
        </p:nvSpPr>
        <p:spPr>
          <a:xfrm>
            <a:off x="8439911" y="1572768"/>
            <a:ext cx="219456" cy="228600"/>
          </a:xfrm>
          <a:prstGeom prst="right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732519" y="1298448"/>
            <a:ext cx="1691640" cy="777240"/>
          </a:xfrm>
          <a:prstGeom prst="roundRect">
            <a:avLst>
              <a:gd name="adj" fmla="val 12000"/>
            </a:avLst>
          </a:prstGeom>
          <a:solidFill>
            <a:srgbClr val="EAF2F7"/>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BM25</a:t>
            </a:r>
          </a:p>
          <a:p>
            <a:pPr algn="ctr"/>
            <a:r>
              <a:rPr sz="1200" b="0">
                <a:solidFill>
                  <a:srgbClr val="1F2A33"/>
                </a:solidFill>
                <a:latin typeface="Calibri"/>
              </a:rPr>
              <a:t>inverted index</a:t>
            </a:r>
          </a:p>
        </p:txBody>
      </p:sp>
      <p:sp>
        <p:nvSpPr>
          <p:cNvPr id="16" name="TextBox 15"/>
          <p:cNvSpPr txBox="1"/>
          <p:nvPr/>
        </p:nvSpPr>
        <p:spPr>
          <a:xfrm>
            <a:off x="502920" y="2514600"/>
            <a:ext cx="6400800" cy="365760"/>
          </a:xfrm>
          <a:prstGeom prst="rect">
            <a:avLst/>
          </a:prstGeom>
          <a:noFill/>
        </p:spPr>
        <p:txBody>
          <a:bodyPr wrap="square" anchor="t">
            <a:spAutoFit/>
          </a:bodyPr>
          <a:lstStyle/>
          <a:p>
            <a:pPr algn="l">
              <a:lnSpc>
                <a:spcPct val="100000"/>
              </a:lnSpc>
            </a:pPr>
            <a:r>
              <a:rPr sz="1500" b="1">
                <a:solidFill>
                  <a:srgbClr val="1B7FAE"/>
                </a:solidFill>
                <a:latin typeface="Calibri"/>
              </a:rPr>
              <a:t>Online query path (MCP over stdio)</a:t>
            </a:r>
          </a:p>
        </p:txBody>
      </p:sp>
      <p:sp>
        <p:nvSpPr>
          <p:cNvPr id="17" name="Rounded Rectangle 16"/>
          <p:cNvSpPr/>
          <p:nvPr/>
        </p:nvSpPr>
        <p:spPr>
          <a:xfrm>
            <a:off x="502920" y="2907792"/>
            <a:ext cx="1097280" cy="822960"/>
          </a:xfrm>
          <a:prstGeom prst="roundRect">
            <a:avLst>
              <a:gd name="adj" fmla="val 12000"/>
            </a:avLst>
          </a:prstGeom>
          <a:solidFill>
            <a:srgbClr val="E3F0F6"/>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query</a:t>
            </a:r>
          </a:p>
        </p:txBody>
      </p:sp>
      <p:sp>
        <p:nvSpPr>
          <p:cNvPr id="18" name="Right Arrow 17"/>
          <p:cNvSpPr/>
          <p:nvPr/>
        </p:nvSpPr>
        <p:spPr>
          <a:xfrm>
            <a:off x="1655064" y="3200400"/>
            <a:ext cx="201168" cy="219456"/>
          </a:xfrm>
          <a:prstGeom prst="right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911096" y="2907792"/>
            <a:ext cx="1234440" cy="822960"/>
          </a:xfrm>
          <a:prstGeom prst="roundRect">
            <a:avLst>
              <a:gd name="adj" fmla="val 12000"/>
            </a:avLst>
          </a:prstGeom>
          <a:solidFill>
            <a:srgbClr val="E3F0F6"/>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e5</a:t>
            </a:r>
          </a:p>
          <a:p>
            <a:pPr algn="ctr"/>
            <a:r>
              <a:rPr sz="1200" b="0">
                <a:solidFill>
                  <a:srgbClr val="1F2A33"/>
                </a:solidFill>
                <a:latin typeface="Calibri"/>
              </a:rPr>
              <a:t>query:</a:t>
            </a:r>
          </a:p>
        </p:txBody>
      </p:sp>
      <p:sp>
        <p:nvSpPr>
          <p:cNvPr id="20" name="Right Arrow 19"/>
          <p:cNvSpPr/>
          <p:nvPr/>
        </p:nvSpPr>
        <p:spPr>
          <a:xfrm>
            <a:off x="3200400" y="3200400"/>
            <a:ext cx="201168" cy="219456"/>
          </a:xfrm>
          <a:prstGeom prst="right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456432" y="2907792"/>
            <a:ext cx="1600200" cy="822960"/>
          </a:xfrm>
          <a:prstGeom prst="roundRect">
            <a:avLst>
              <a:gd name="adj" fmla="val 12000"/>
            </a:avLst>
          </a:prstGeom>
          <a:solidFill>
            <a:srgbClr val="E3F0F6"/>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cosine</a:t>
            </a:r>
          </a:p>
          <a:p>
            <a:pPr algn="ctr"/>
            <a:r>
              <a:rPr sz="1200" b="0">
                <a:solidFill>
                  <a:srgbClr val="1F2A33"/>
                </a:solidFill>
                <a:latin typeface="Calibri"/>
              </a:rPr>
              <a:t>top-50</a:t>
            </a:r>
          </a:p>
        </p:txBody>
      </p:sp>
      <p:sp>
        <p:nvSpPr>
          <p:cNvPr id="22" name="Right Arrow 21"/>
          <p:cNvSpPr/>
          <p:nvPr/>
        </p:nvSpPr>
        <p:spPr>
          <a:xfrm>
            <a:off x="5111496" y="3200400"/>
            <a:ext cx="201168" cy="219456"/>
          </a:xfrm>
          <a:prstGeom prst="right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67528" y="2907792"/>
            <a:ext cx="1234440" cy="822960"/>
          </a:xfrm>
          <a:prstGeom prst="roundRect">
            <a:avLst>
              <a:gd name="adj" fmla="val 12000"/>
            </a:avLst>
          </a:prstGeom>
          <a:solidFill>
            <a:srgbClr val="E3F0F6"/>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RRF</a:t>
            </a:r>
          </a:p>
          <a:p>
            <a:pPr algn="ctr"/>
            <a:r>
              <a:rPr sz="1200" b="0">
                <a:solidFill>
                  <a:srgbClr val="1F2A33"/>
                </a:solidFill>
                <a:latin typeface="Calibri"/>
              </a:rPr>
              <a:t>k = 60</a:t>
            </a:r>
          </a:p>
        </p:txBody>
      </p:sp>
      <p:sp>
        <p:nvSpPr>
          <p:cNvPr id="24" name="Right Arrow 23"/>
          <p:cNvSpPr/>
          <p:nvPr/>
        </p:nvSpPr>
        <p:spPr>
          <a:xfrm>
            <a:off x="6656832" y="3200400"/>
            <a:ext cx="201168" cy="219456"/>
          </a:xfrm>
          <a:prstGeom prst="right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912864" y="2907792"/>
            <a:ext cx="1371600" cy="822960"/>
          </a:xfrm>
          <a:prstGeom prst="roundRect">
            <a:avLst>
              <a:gd name="adj" fmla="val 12000"/>
            </a:avLst>
          </a:prstGeom>
          <a:solidFill>
            <a:srgbClr val="E3F0F6"/>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rerank</a:t>
            </a:r>
          </a:p>
          <a:p>
            <a:pPr algn="ctr"/>
            <a:r>
              <a:rPr sz="1200" b="0">
                <a:solidFill>
                  <a:srgbClr val="1F2A33"/>
                </a:solidFill>
                <a:latin typeface="Calibri"/>
              </a:rPr>
              <a:t>(optional)</a:t>
            </a:r>
          </a:p>
        </p:txBody>
      </p:sp>
      <p:sp>
        <p:nvSpPr>
          <p:cNvPr id="26" name="Right Arrow 25"/>
          <p:cNvSpPr/>
          <p:nvPr/>
        </p:nvSpPr>
        <p:spPr>
          <a:xfrm>
            <a:off x="8339328" y="3200400"/>
            <a:ext cx="201168" cy="219456"/>
          </a:xfrm>
          <a:prstGeom prst="right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95360" y="2907792"/>
            <a:ext cx="1005840" cy="822960"/>
          </a:xfrm>
          <a:prstGeom prst="roundRect">
            <a:avLst>
              <a:gd name="adj" fmla="val 12000"/>
            </a:avLst>
          </a:prstGeom>
          <a:solidFill>
            <a:srgbClr val="E3F0F6"/>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top-k</a:t>
            </a:r>
          </a:p>
        </p:txBody>
      </p:sp>
      <p:sp>
        <p:nvSpPr>
          <p:cNvPr id="28" name="Rounded Rectangle 27"/>
          <p:cNvSpPr/>
          <p:nvPr/>
        </p:nvSpPr>
        <p:spPr>
          <a:xfrm>
            <a:off x="3886200" y="4114800"/>
            <a:ext cx="1828800" cy="685800"/>
          </a:xfrm>
          <a:prstGeom prst="roundRect">
            <a:avLst>
              <a:gd name="adj" fmla="val 12000"/>
            </a:avLst>
          </a:prstGeom>
          <a:solidFill>
            <a:srgbClr val="E3F0F6"/>
          </a:solidFill>
          <a:ln w="12700">
            <a:solidFill>
              <a:srgbClr val="1B7FA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F2A33"/>
                </a:solidFill>
                <a:latin typeface="Calibri"/>
              </a:rPr>
              <a:t>BM25 top-50</a:t>
            </a:r>
          </a:p>
        </p:txBody>
      </p:sp>
      <p:sp>
        <p:nvSpPr>
          <p:cNvPr id="29" name="Up Arrow 28"/>
          <p:cNvSpPr/>
          <p:nvPr/>
        </p:nvSpPr>
        <p:spPr>
          <a:xfrm>
            <a:off x="4645152" y="3986784"/>
            <a:ext cx="237744" cy="256032"/>
          </a:xfrm>
          <a:prstGeom prst="upArrow">
            <a:avLst/>
          </a:prstGeom>
          <a:solidFill>
            <a:srgbClr val="1B7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074920"/>
            <a:ext cx="11185855" cy="1188720"/>
          </a:xfrm>
          <a:prstGeom prst="rect">
            <a:avLst/>
          </a:prstGeom>
          <a:noFill/>
        </p:spPr>
        <p:txBody>
          <a:bodyPr wrap="square" anchor="t">
            <a:spAutoFit/>
          </a:bodyPr>
          <a:lstStyle/>
          <a:p>
            <a:pPr algn="l">
              <a:lnSpc>
                <a:spcPct val="115000"/>
              </a:lnSpc>
            </a:pPr>
            <a:r>
              <a:rPr sz="1300" b="0">
                <a:solidFill>
                  <a:srgbClr val="5B6770"/>
                </a:solidFill>
                <a:latin typeface="Calibri"/>
              </a:rPr>
              <a:t>Top: the offline index build. Bottom: the online query path. RRF fuses two independent rankings; the cross-encoder is an optional extra stage. Everything runs locally: no external APIs, no data leaves the machine.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Corpus and chunking</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5</a:t>
            </a:r>
          </a:p>
        </p:txBody>
      </p:sp>
      <p:sp>
        <p:nvSpPr>
          <p:cNvPr id="6" name="TextBox 5"/>
          <p:cNvSpPr txBox="1"/>
          <p:nvPr/>
        </p:nvSpPr>
        <p:spPr>
          <a:xfrm>
            <a:off x="502920" y="1097280"/>
            <a:ext cx="5577840" cy="457200"/>
          </a:xfrm>
          <a:prstGeom prst="rect">
            <a:avLst/>
          </a:prstGeom>
          <a:noFill/>
        </p:spPr>
        <p:txBody>
          <a:bodyPr wrap="square" anchor="t">
            <a:spAutoFit/>
          </a:bodyPr>
          <a:lstStyle/>
          <a:p>
            <a:pPr algn="l">
              <a:lnSpc>
                <a:spcPct val="100000"/>
              </a:lnSpc>
            </a:pPr>
            <a:r>
              <a:rPr sz="1900" b="1">
                <a:solidFill>
                  <a:srgbClr val="0F3D5C"/>
                </a:solidFill>
                <a:latin typeface="Calibri"/>
              </a:rPr>
              <a:t>Procedure-level chunking</a:t>
            </a:r>
          </a:p>
        </p:txBody>
      </p:sp>
      <p:sp>
        <p:nvSpPr>
          <p:cNvPr id="7" name="TextBox 6"/>
          <p:cNvSpPr txBox="1"/>
          <p:nvPr/>
        </p:nvSpPr>
        <p:spPr>
          <a:xfrm>
            <a:off x="502920" y="1554480"/>
            <a:ext cx="5486400" cy="4206240"/>
          </a:xfrm>
          <a:prstGeom prst="rect">
            <a:avLst/>
          </a:prstGeom>
          <a:noFill/>
        </p:spPr>
        <p:txBody>
          <a:bodyPr wrap="square" anchor="t">
            <a:spAutoFit/>
          </a:bodyPr>
          <a:lstStyle/>
          <a:p>
            <a:pPr algn="l">
              <a:lnSpc>
                <a:spcPct val="100000"/>
              </a:lnSpc>
            </a:pPr>
            <a:r>
              <a:rPr sz="1400" b="0">
                <a:solidFill>
                  <a:srgbClr val="1F2A33"/>
                </a:solidFill>
                <a:latin typeface="Calibri"/>
              </a:rPr>
              <a:t/>
            </a:r>
          </a:p>
          <a:p>
            <a:pPr marL="240000" indent="-240000">
              <a:lnSpc>
                <a:spcPct val="100000"/>
              </a:lnSpc>
              <a:spcBef>
                <a:spcPts val="500"/>
              </a:spcBef>
              <a:spcAft>
                <a:spcPts val="300"/>
              </a:spcAft>
            </a:pPr>
            <a:r>
              <a:rPr sz="1400" b="0">
                <a:solidFill>
                  <a:srgbClr val="1F2A33"/>
                </a:solidFill>
                <a:latin typeface="Calibri"/>
              </a:rPr>
              <a:t>•  154,560 code chunks: one procedure or function per chunk (ADR 0007)</a:t>
            </a:r>
          </a:p>
          <a:p>
            <a:pPr marL="240000" indent="-240000">
              <a:lnSpc>
                <a:spcPct val="100000"/>
              </a:lnSpc>
              <a:spcBef>
                <a:spcPts val="500"/>
              </a:spcBef>
              <a:spcAft>
                <a:spcPts val="300"/>
              </a:spcAft>
            </a:pPr>
            <a:r>
              <a:rPr sz="1400" b="0">
                <a:solidFill>
                  <a:srgbClr val="1F2A33"/>
                </a:solidFill>
                <a:latin typeface="Calibri"/>
              </a:rPr>
              <a:t>•  Before (symbolic 1200/200 windows): procedures cut mid-body, 32.1% of chunks over the 512-token limit</a:t>
            </a:r>
          </a:p>
          <a:p>
            <a:pPr marL="240000" indent="-240000">
              <a:lnSpc>
                <a:spcPct val="100000"/>
              </a:lnSpc>
              <a:spcBef>
                <a:spcPts val="500"/>
              </a:spcBef>
              <a:spcAft>
                <a:spcPts val="300"/>
              </a:spcAft>
            </a:pPr>
            <a:r>
              <a:rPr sz="1400" b="0">
                <a:solidFill>
                  <a:srgbClr val="1F2A33"/>
                </a:solidFill>
                <a:latin typeface="Calibri"/>
              </a:rPr>
              <a:t>•  25,026 metadata chunks parsed from the configuration XML dump</a:t>
            </a:r>
          </a:p>
          <a:p>
            <a:pPr marL="240000" indent="-240000">
              <a:lnSpc>
                <a:spcPct val="100000"/>
              </a:lnSpc>
              <a:spcBef>
                <a:spcPts val="500"/>
              </a:spcBef>
              <a:spcAft>
                <a:spcPts val="300"/>
              </a:spcAft>
            </a:pPr>
            <a:r>
              <a:rPr sz="1400" b="0">
                <a:solidFill>
                  <a:srgbClr val="1F2A33"/>
                </a:solidFill>
                <a:latin typeface="Calibri"/>
              </a:rPr>
              <a:t>•  Total: 179,586 chunks in the index</a:t>
            </a:r>
          </a:p>
          <a:p>
            <a:pPr marL="240000" indent="-240000">
              <a:lnSpc>
                <a:spcPct val="100000"/>
              </a:lnSpc>
              <a:spcBef>
                <a:spcPts val="500"/>
              </a:spcBef>
              <a:spcAft>
                <a:spcPts val="300"/>
              </a:spcAft>
            </a:pPr>
            <a:r>
              <a:rPr sz="1400" b="0">
                <a:solidFill>
                  <a:srgbClr val="1F2A33"/>
                </a:solidFill>
                <a:latin typeface="Calibri"/>
              </a:rPr>
              <a:t>•  Current gates: 99.6% code coverage; 0.3% over 512 tokens; tokens p50/p99/max = 179 / 472 / 554</a:t>
            </a:r>
          </a:p>
        </p:txBody>
      </p:sp>
      <p:sp>
        <p:nvSpPr>
          <p:cNvPr id="8" name="Rectangle 7"/>
          <p:cNvSpPr/>
          <p:nvPr/>
        </p:nvSpPr>
        <p:spPr>
          <a:xfrm>
            <a:off x="6172200" y="1188720"/>
            <a:ext cx="9525" cy="4343400"/>
          </a:xfrm>
          <a:prstGeom prst="rect">
            <a:avLst/>
          </a:prstGeom>
          <a:solidFill>
            <a:srgbClr val="D3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097280"/>
            <a:ext cx="4937760" cy="457200"/>
          </a:xfrm>
          <a:prstGeom prst="rect">
            <a:avLst/>
          </a:prstGeom>
          <a:noFill/>
        </p:spPr>
        <p:txBody>
          <a:bodyPr wrap="square" anchor="t">
            <a:spAutoFit/>
          </a:bodyPr>
          <a:lstStyle/>
          <a:p>
            <a:pPr algn="l">
              <a:lnSpc>
                <a:spcPct val="100000"/>
              </a:lnSpc>
            </a:pPr>
            <a:r>
              <a:rPr sz="1900" b="1">
                <a:solidFill>
                  <a:srgbClr val="0F3D5C"/>
                </a:solidFill>
                <a:latin typeface="Calibri"/>
              </a:rPr>
              <a:t>Metadata from XML</a:t>
            </a:r>
          </a:p>
        </p:txBody>
      </p:sp>
      <p:sp>
        <p:nvSpPr>
          <p:cNvPr id="10" name="TextBox 9"/>
          <p:cNvSpPr txBox="1"/>
          <p:nvPr/>
        </p:nvSpPr>
        <p:spPr>
          <a:xfrm>
            <a:off x="6446520" y="1554480"/>
            <a:ext cx="4937760" cy="2377440"/>
          </a:xfrm>
          <a:prstGeom prst="rect">
            <a:avLst/>
          </a:prstGeom>
          <a:noFill/>
        </p:spPr>
        <p:txBody>
          <a:bodyPr wrap="square" anchor="t">
            <a:spAutoFit/>
          </a:bodyPr>
          <a:lstStyle/>
          <a:p>
            <a:pPr algn="l">
              <a:lnSpc>
                <a:spcPct val="100000"/>
              </a:lnSpc>
            </a:pPr>
            <a:r>
              <a:rPr sz="1400" b="0">
                <a:solidFill>
                  <a:srgbClr val="1F2A33"/>
                </a:solidFill>
                <a:latin typeface="Calibri"/>
              </a:rPr>
              <a:t/>
            </a:r>
          </a:p>
          <a:p>
            <a:pPr marL="240000" indent="-240000">
              <a:lnSpc>
                <a:spcPct val="100000"/>
              </a:lnSpc>
              <a:spcBef>
                <a:spcPts val="500"/>
              </a:spcBef>
              <a:spcAft>
                <a:spcPts val="300"/>
              </a:spcAft>
            </a:pPr>
            <a:r>
              <a:rPr sz="1400" b="0">
                <a:solidFill>
                  <a:srgbClr val="1F2A33"/>
                </a:solidFill>
                <a:latin typeface="Calibri"/>
              </a:rPr>
              <a:t>•  25,026 chunks over 5,911 objects: attributes, types and form names</a:t>
            </a:r>
          </a:p>
          <a:p>
            <a:pPr marL="240000" indent="-240000">
              <a:lnSpc>
                <a:spcPct val="100000"/>
              </a:lnSpc>
              <a:spcBef>
                <a:spcPts val="500"/>
              </a:spcBef>
              <a:spcAft>
                <a:spcPts val="300"/>
              </a:spcAft>
            </a:pPr>
            <a:r>
              <a:rPr sz="1400" b="0">
                <a:solidFill>
                  <a:srgbClr val="1F2A33"/>
                </a:solidFill>
                <a:latin typeface="Calibri"/>
              </a:rPr>
              <a:t>•  BM25 Hit@3 99.7% against 93.0% for the old text-report source (ADR 0008)</a:t>
            </a:r>
          </a:p>
          <a:p>
            <a:pPr marL="240000" indent="-240000">
              <a:lnSpc>
                <a:spcPct val="100000"/>
              </a:lnSpc>
              <a:spcBef>
                <a:spcPts val="500"/>
              </a:spcBef>
              <a:spcAft>
                <a:spcPts val="300"/>
              </a:spcAft>
            </a:pPr>
            <a:r>
              <a:rPr sz="1400" b="0">
                <a:solidFill>
                  <a:srgbClr val="1F2A33"/>
                </a:solidFill>
                <a:latin typeface="Calibri"/>
              </a:rPr>
              <a:t>•  Structured source keeps field names and types inside the chunk text</a:t>
            </a:r>
          </a:p>
        </p:txBody>
      </p:sp>
      <p:sp>
        <p:nvSpPr>
          <p:cNvPr id="11" name="Rounded Rectangle 10"/>
          <p:cNvSpPr/>
          <p:nvPr/>
        </p:nvSpPr>
        <p:spPr>
          <a:xfrm>
            <a:off x="6446520" y="3566160"/>
            <a:ext cx="4709160" cy="1417320"/>
          </a:xfrm>
          <a:prstGeom prst="roundRect">
            <a:avLst>
              <a:gd name="adj" fmla="val 8000"/>
            </a:avLst>
          </a:prstGeom>
          <a:solidFill>
            <a:srgbClr val="EAF2F7"/>
          </a:solidFill>
          <a:ln>
            <a:solidFill>
              <a:srgbClr val="D3E2E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r>
              <a:rPr sz="2600" b="1">
                <a:solidFill>
                  <a:srgbClr val="0F3D5C"/>
                </a:solidFill>
                <a:latin typeface="Calibri"/>
              </a:rPr>
              <a:t>93.0% → 99.7%</a:t>
            </a:r>
          </a:p>
          <a:p>
            <a:pPr>
              <a:spcBef>
                <a:spcPts val="200"/>
              </a:spcBef>
            </a:pPr>
            <a:r>
              <a:rPr sz="1200">
                <a:solidFill>
                  <a:srgbClr val="5B6770"/>
                </a:solidFill>
                <a:latin typeface="Calibri"/>
              </a:rPr>
              <a:t>BM25 Hit@3 on metadata, text report → XML</a:t>
            </a:r>
          </a:p>
        </p:txBody>
      </p:sp>
      <p:sp>
        <p:nvSpPr>
          <p:cNvPr id="12" name="TextBox 11"/>
          <p:cNvSpPr txBox="1"/>
          <p:nvPr/>
        </p:nvSpPr>
        <p:spPr>
          <a:xfrm>
            <a:off x="6446520" y="5166360"/>
            <a:ext cx="4754880" cy="640080"/>
          </a:xfrm>
          <a:prstGeom prst="rect">
            <a:avLst/>
          </a:prstGeom>
          <a:noFill/>
        </p:spPr>
        <p:txBody>
          <a:bodyPr wrap="square" anchor="t">
            <a:spAutoFit/>
          </a:bodyPr>
          <a:lstStyle/>
          <a:p>
            <a:pPr algn="l">
              <a:lnSpc>
                <a:spcPct val="100000"/>
              </a:lnSpc>
            </a:pPr>
            <a:r>
              <a:rPr sz="1200" b="0">
                <a:solidFill>
                  <a:srgbClr val="5B6770"/>
                </a:solidFill>
                <a:latin typeface="Calibri"/>
              </a:rPr>
              <a:t>Parsed once into JSONL, then indexed like code.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MCP server: tools for an agent</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6</a:t>
            </a:r>
          </a:p>
        </p:txBody>
      </p:sp>
      <p:graphicFrame>
        <p:nvGraphicFramePr>
          <p:cNvPr id="6" name="Table 5"/>
          <p:cNvGraphicFramePr>
            <a:graphicFrameLocks noGrp="1"/>
          </p:cNvGraphicFramePr>
          <p:nvPr/>
        </p:nvGraphicFramePr>
        <p:xfrm>
          <a:off x="502920" y="1078992"/>
          <a:ext cx="11185854" cy="3017520"/>
        </p:xfrm>
        <a:graphic>
          <a:graphicData uri="http://schemas.openxmlformats.org/drawingml/2006/table">
            <a:tbl>
              <a:tblPr firstRow="1" bandRow="1">
                <a:tableStyleId>{5C22544A-7EE6-4342-B048-85BDC9FD1C3A}</a:tableStyleId>
              </a:tblPr>
              <a:tblGrid>
                <a:gridCol w="4309304"/>
                <a:gridCol w="6876550"/>
              </a:tblGrid>
              <a:tr h="301752">
                <a:tc>
                  <a:txBody>
                    <a:bodyPr lIns="73152" rIns="73152" tIns="18288" bIns="18288"/>
                    <a:lstStyle/>
                    <a:p>
                      <a:r>
                        <a:rPr sz="1150" b="1">
                          <a:solidFill>
                            <a:srgbClr val="FFFFFF"/>
                          </a:solidFill>
                          <a:latin typeface="Calibri"/>
                        </a:rPr>
                        <a:t>Tool</a:t>
                      </a:r>
                    </a:p>
                  </a:txBody>
                  <a:tcPr anchor="ctr">
                    <a:solidFill>
                      <a:srgbClr val="0F3D5C"/>
                    </a:solidFill>
                  </a:tcPr>
                </a:tc>
                <a:tc>
                  <a:txBody>
                    <a:bodyPr lIns="73152" rIns="73152" tIns="18288" bIns="18288"/>
                    <a:lstStyle/>
                    <a:p>
                      <a:r>
                        <a:rPr sz="1150" b="1">
                          <a:solidFill>
                            <a:srgbClr val="FFFFFF"/>
                          </a:solidFill>
                          <a:latin typeface="Calibri"/>
                        </a:rPr>
                        <a:t>What it returns / when to use it</a:t>
                      </a:r>
                    </a:p>
                  </a:txBody>
                  <a:tcPr anchor="ctr">
                    <a:solidFill>
                      <a:srgbClr val="0F3D5C"/>
                    </a:solidFill>
                  </a:tcPr>
                </a:tc>
              </a:tr>
              <a:tr h="301752">
                <a:tc>
                  <a:txBody>
                    <a:bodyPr lIns="73152" rIns="73152" tIns="18288" bIns="18288"/>
                    <a:lstStyle/>
                    <a:p>
                      <a:r>
                        <a:rPr sz="1150" b="0">
                          <a:solidFill>
                            <a:srgbClr val="1F2A33"/>
                          </a:solidFill>
                          <a:latin typeface="Calibri"/>
                        </a:rPr>
                        <a:t>codesearch(query, limit)</a:t>
                      </a:r>
                    </a:p>
                  </a:txBody>
                  <a:tcPr anchor="ctr">
                    <a:solidFill>
                      <a:srgbClr val="FFFFFF"/>
                    </a:solidFill>
                  </a:tcPr>
                </a:tc>
                <a:tc>
                  <a:txBody>
                    <a:bodyPr lIns="73152" rIns="73152" tIns="18288" bIns="18288"/>
                    <a:lstStyle/>
                    <a:p>
                      <a:r>
                        <a:rPr sz="1150" b="0">
                          <a:solidFill>
                            <a:srgbClr val="1F2A33"/>
                          </a:solidFill>
                          <a:latin typeface="Calibri"/>
                        </a:rPr>
                        <a:t>cosine baseline over BSL code modules</a:t>
                      </a:r>
                    </a:p>
                  </a:txBody>
                  <a:tcPr anchor="ctr">
                    <a:solidFill>
                      <a:srgbClr val="FFFFFF"/>
                    </a:solidFill>
                  </a:tcPr>
                </a:tc>
              </a:tr>
              <a:tr h="301752">
                <a:tc>
                  <a:txBody>
                    <a:bodyPr lIns="73152" rIns="73152" tIns="18288" bIns="18288"/>
                    <a:lstStyle/>
                    <a:p>
                      <a:r>
                        <a:rPr sz="1150" b="0">
                          <a:solidFill>
                            <a:srgbClr val="1F2A33"/>
                          </a:solidFill>
                          <a:latin typeface="Calibri"/>
                        </a:rPr>
                        <a:t>metadatasearch(query, limit)</a:t>
                      </a:r>
                    </a:p>
                  </a:txBody>
                  <a:tcPr anchor="ctr">
                    <a:solidFill>
                      <a:srgbClr val="EAF2F7"/>
                    </a:solidFill>
                  </a:tcPr>
                </a:tc>
                <a:tc>
                  <a:txBody>
                    <a:bodyPr lIns="73152" rIns="73152" tIns="18288" bIns="18288"/>
                    <a:lstStyle/>
                    <a:p>
                      <a:r>
                        <a:rPr sz="1150" b="0">
                          <a:solidFill>
                            <a:srgbClr val="1F2A33"/>
                          </a:solidFill>
                          <a:latin typeface="Calibri"/>
                        </a:rPr>
                        <a:t>cosine baseline over configuration metadata</a:t>
                      </a:r>
                    </a:p>
                  </a:txBody>
                  <a:tcPr anchor="ctr">
                    <a:solidFill>
                      <a:srgbClr val="EAF2F7"/>
                    </a:solidFill>
                  </a:tcPr>
                </a:tc>
              </a:tr>
              <a:tr h="301752">
                <a:tc>
                  <a:txBody>
                    <a:bodyPr lIns="73152" rIns="73152" tIns="18288" bIns="18288"/>
                    <a:lstStyle/>
                    <a:p>
                      <a:r>
                        <a:rPr sz="1150" b="0">
                          <a:solidFill>
                            <a:srgbClr val="1F2A33"/>
                          </a:solidFill>
                          <a:latin typeface="Calibri"/>
                        </a:rPr>
                        <a:t>search(query, top_k, mode, collection)</a:t>
                      </a:r>
                    </a:p>
                  </a:txBody>
                  <a:tcPr anchor="ctr">
                    <a:solidFill>
                      <a:srgbClr val="FFFFFF"/>
                    </a:solidFill>
                  </a:tcPr>
                </a:tc>
                <a:tc>
                  <a:txBody>
                    <a:bodyPr lIns="73152" rIns="73152" tIns="18288" bIns="18288"/>
                    <a:lstStyle/>
                    <a:p>
                      <a:r>
                        <a:rPr sz="1150" b="0">
                          <a:solidFill>
                            <a:srgbClr val="1F2A33"/>
                          </a:solidFill>
                          <a:latin typeface="Calibri"/>
                        </a:rPr>
                        <a:t>unified entry: vector | hybrid | hybrid_rerank | pearson</a:t>
                      </a:r>
                    </a:p>
                  </a:txBody>
                  <a:tcPr anchor="ctr">
                    <a:solidFill>
                      <a:srgbClr val="FFFFFF"/>
                    </a:solidFill>
                  </a:tcPr>
                </a:tc>
              </a:tr>
              <a:tr h="301752">
                <a:tc>
                  <a:txBody>
                    <a:bodyPr lIns="73152" rIns="73152" tIns="18288" bIns="18288"/>
                    <a:lstStyle/>
                    <a:p>
                      <a:r>
                        <a:rPr sz="1150" b="0">
                          <a:solidFill>
                            <a:srgbClr val="1F2A33"/>
                          </a:solidFill>
                          <a:latin typeface="Calibri"/>
                        </a:rPr>
                        <a:t>evaluate_retrieval(query, k, ...)</a:t>
                      </a:r>
                    </a:p>
                  </a:txBody>
                  <a:tcPr anchor="ctr">
                    <a:solidFill>
                      <a:srgbClr val="EAF2F7"/>
                    </a:solidFill>
                  </a:tcPr>
                </a:tc>
                <a:tc>
                  <a:txBody>
                    <a:bodyPr lIns="73152" rIns="73152" tIns="18288" bIns="18288"/>
                    <a:lstStyle/>
                    <a:p>
                      <a:r>
                        <a:rPr sz="1150" b="0">
                          <a:solidFill>
                            <a:srgbClr val="1F2A33"/>
                          </a:solidFill>
                          <a:latin typeface="Calibri"/>
                        </a:rPr>
                        <a:t>Hit@k, MRR, nDCG and a null-tail check for one query</a:t>
                      </a:r>
                    </a:p>
                  </a:txBody>
                  <a:tcPr anchor="ctr">
                    <a:solidFill>
                      <a:srgbClr val="EAF2F7"/>
                    </a:solidFill>
                  </a:tcPr>
                </a:tc>
              </a:tr>
              <a:tr h="301752">
                <a:tc>
                  <a:txBody>
                    <a:bodyPr lIns="73152" rIns="73152" tIns="18288" bIns="18288"/>
                    <a:lstStyle/>
                    <a:p>
                      <a:r>
                        <a:rPr sz="1150" b="0">
                          <a:solidFill>
                            <a:srgbClr val="1F2A33"/>
                          </a:solidFill>
                          <a:latin typeface="Calibri"/>
                        </a:rPr>
                        <a:t>search_1c_metadata(query, limit)</a:t>
                      </a:r>
                    </a:p>
                  </a:txBody>
                  <a:tcPr anchor="ctr">
                    <a:solidFill>
                      <a:srgbClr val="FFFFFF"/>
                    </a:solidFill>
                  </a:tcPr>
                </a:tc>
                <a:tc>
                  <a:txBody>
                    <a:bodyPr lIns="73152" rIns="73152" tIns="18288" bIns="18288"/>
                    <a:lstStyle/>
                    <a:p>
                      <a:r>
                        <a:rPr sz="1150" b="0">
                          <a:solidFill>
                            <a:srgbClr val="1F2A33"/>
                          </a:solidFill>
                          <a:latin typeface="Calibri"/>
                        </a:rPr>
                        <a:t>BM25: exact names, handlers, calls, "who writes to this register"</a:t>
                      </a:r>
                    </a:p>
                  </a:txBody>
                  <a:tcPr anchor="ctr">
                    <a:solidFill>
                      <a:srgbClr val="FFFFFF"/>
                    </a:solidFill>
                  </a:tcPr>
                </a:tc>
              </a:tr>
              <a:tr h="301752">
                <a:tc>
                  <a:txBody>
                    <a:bodyPr lIns="73152" rIns="73152" tIns="18288" bIns="18288"/>
                    <a:lstStyle/>
                    <a:p>
                      <a:r>
                        <a:rPr sz="1150" b="0">
                          <a:solidFill>
                            <a:srgbClr val="1F2A33"/>
                          </a:solidFill>
                          <a:latin typeface="Calibri"/>
                        </a:rPr>
                        <a:t>search_knowledge_base(query, limit)</a:t>
                      </a:r>
                    </a:p>
                  </a:txBody>
                  <a:tcPr anchor="ctr">
                    <a:solidFill>
                      <a:srgbClr val="EAF2F7"/>
                    </a:solidFill>
                  </a:tcPr>
                </a:tc>
                <a:tc>
                  <a:txBody>
                    <a:bodyPr lIns="73152" rIns="73152" tIns="18288" bIns="18288"/>
                    <a:lstStyle/>
                    <a:p>
                      <a:r>
                        <a:rPr sz="1150" b="0">
                          <a:solidFill>
                            <a:srgbClr val="1F2A33"/>
                          </a:solidFill>
                          <a:latin typeface="Calibri"/>
                        </a:rPr>
                        <a:t>vector: "how to", "why it fails", instructions</a:t>
                      </a:r>
                    </a:p>
                  </a:txBody>
                  <a:tcPr anchor="ctr">
                    <a:solidFill>
                      <a:srgbClr val="EAF2F7"/>
                    </a:solidFill>
                  </a:tcPr>
                </a:tc>
              </a:tr>
              <a:tr h="301752">
                <a:tc>
                  <a:txBody>
                    <a:bodyPr lIns="73152" rIns="73152" tIns="18288" bIns="18288"/>
                    <a:lstStyle/>
                    <a:p>
                      <a:r>
                        <a:rPr sz="1150" b="0">
                          <a:solidFill>
                            <a:srgbClr val="1F2A33"/>
                          </a:solidFill>
                          <a:latin typeface="Calibri"/>
                        </a:rPr>
                        <a:t>search_hybrid(query, limit)</a:t>
                      </a:r>
                    </a:p>
                  </a:txBody>
                  <a:tcPr anchor="ctr">
                    <a:solidFill>
                      <a:srgbClr val="FFFFFF"/>
                    </a:solidFill>
                  </a:tcPr>
                </a:tc>
                <a:tc>
                  <a:txBody>
                    <a:bodyPr lIns="73152" rIns="73152" tIns="18288" bIns="18288"/>
                    <a:lstStyle/>
                    <a:p>
                      <a:r>
                        <a:rPr sz="1150" b="0">
                          <a:solidFill>
                            <a:srgbClr val="1F2A33"/>
                          </a:solidFill>
                          <a:latin typeface="Calibri"/>
                        </a:rPr>
                        <a:t>RRF fusion for mixed queries; the safe default</a:t>
                      </a:r>
                    </a:p>
                  </a:txBody>
                  <a:tcPr anchor="ctr">
                    <a:solidFill>
                      <a:srgbClr val="FFFFFF"/>
                    </a:solidFill>
                  </a:tcPr>
                </a:tc>
              </a:tr>
              <a:tr h="301752">
                <a:tc>
                  <a:txBody>
                    <a:bodyPr lIns="73152" rIns="73152" tIns="18288" bIns="18288"/>
                    <a:lstStyle/>
                    <a:p>
                      <a:r>
                        <a:rPr sz="1150" b="0">
                          <a:solidFill>
                            <a:srgbClr val="1F2A33"/>
                          </a:solidFill>
                          <a:latin typeface="Calibri"/>
                        </a:rPr>
                        <a:t>route_query(query)</a:t>
                      </a:r>
                    </a:p>
                  </a:txBody>
                  <a:tcPr anchor="ctr">
                    <a:solidFill>
                      <a:srgbClr val="EAF2F7"/>
                    </a:solidFill>
                  </a:tcPr>
                </a:tc>
                <a:tc>
                  <a:txBody>
                    <a:bodyPr lIns="73152" rIns="73152" tIns="18288" bIns="18288"/>
                    <a:lstStyle/>
                    <a:p>
                      <a:r>
                        <a:rPr sz="1150" b="0">
                          <a:solidFill>
                            <a:srgbClr val="1F2A33"/>
                          </a:solidFill>
                          <a:latin typeface="Calibri"/>
                        </a:rPr>
                        <a:t>explains route, tool, confidence and reason</a:t>
                      </a:r>
                    </a:p>
                  </a:txBody>
                  <a:tcPr anchor="ctr">
                    <a:solidFill>
                      <a:srgbClr val="EAF2F7"/>
                    </a:solidFill>
                  </a:tcPr>
                </a:tc>
              </a:tr>
              <a:tr h="301752">
                <a:tc>
                  <a:txBody>
                    <a:bodyPr lIns="73152" rIns="73152" tIns="18288" bIns="18288"/>
                    <a:lstStyle/>
                    <a:p>
                      <a:r>
                        <a:rPr sz="1150" b="0">
                          <a:solidFill>
                            <a:srgbClr val="1F2A33"/>
                          </a:solidFill>
                          <a:latin typeface="Calibri"/>
                        </a:rPr>
                        <a:t>index_stats()</a:t>
                      </a:r>
                    </a:p>
                  </a:txBody>
                  <a:tcPr anchor="ctr">
                    <a:solidFill>
                      <a:srgbClr val="FFFFFF"/>
                    </a:solidFill>
                  </a:tcPr>
                </a:tc>
                <a:tc>
                  <a:txBody>
                    <a:bodyPr lIns="73152" rIns="73152" tIns="18288" bIns="18288"/>
                    <a:lstStyle/>
                    <a:p>
                      <a:r>
                        <a:rPr sz="1150" b="0">
                          <a:solidFill>
                            <a:srgbClr val="1F2A33"/>
                          </a:solidFill>
                          <a:latin typeface="Calibri"/>
                        </a:rPr>
                        <a:t>diagnostic: which index is served, collection counts, model, default mode</a:t>
                      </a:r>
                    </a:p>
                  </a:txBody>
                  <a:tcPr anchor="ctr">
                    <a:solidFill>
                      <a:srgbClr val="FFFFFF"/>
                    </a:solidFill>
                  </a:tcPr>
                </a:tc>
              </a:tr>
            </a:tbl>
          </a:graphicData>
        </a:graphic>
      </p:graphicFrame>
      <p:sp>
        <p:nvSpPr>
          <p:cNvPr id="7" name="TextBox 6"/>
          <p:cNvSpPr txBox="1"/>
          <p:nvPr/>
        </p:nvSpPr>
        <p:spPr>
          <a:xfrm>
            <a:off x="502920" y="4480560"/>
            <a:ext cx="11185855" cy="320040"/>
          </a:xfrm>
          <a:prstGeom prst="rect">
            <a:avLst/>
          </a:prstGeom>
          <a:noFill/>
        </p:spPr>
        <p:txBody>
          <a:bodyPr wrap="square" anchor="t">
            <a:spAutoFit/>
          </a:bodyPr>
          <a:lstStyle/>
          <a:p>
            <a:pPr algn="l">
              <a:lnSpc>
                <a:spcPct val="100000"/>
              </a:lnSpc>
            </a:pPr>
            <a:r>
              <a:rPr sz="1600" b="1">
                <a:solidFill>
                  <a:srgbClr val="0F3D5C"/>
                </a:solidFill>
                <a:latin typeface="Calibri"/>
              </a:rPr>
              <a:t>How it connects</a:t>
            </a:r>
          </a:p>
        </p:txBody>
      </p:sp>
      <p:sp>
        <p:nvSpPr>
          <p:cNvPr id="8" name="TextBox 7"/>
          <p:cNvSpPr txBox="1"/>
          <p:nvPr/>
        </p:nvSpPr>
        <p:spPr>
          <a:xfrm>
            <a:off x="502920" y="4818888"/>
            <a:ext cx="11185855" cy="1463040"/>
          </a:xfrm>
          <a:prstGeom prst="rect">
            <a:avLst/>
          </a:prstGeom>
          <a:noFill/>
        </p:spPr>
        <p:txBody>
          <a:bodyPr wrap="square" anchor="t">
            <a:spAutoFit/>
          </a:bodyPr>
          <a:lstStyle/>
          <a:p>
            <a:pPr algn="l">
              <a:lnSpc>
                <a:spcPct val="100000"/>
              </a:lnSpc>
            </a:pPr>
            <a:r>
              <a:rPr sz="1250" b="0">
                <a:solidFill>
                  <a:srgbClr val="1F2A33"/>
                </a:solidFill>
                <a:latin typeface="Calibri"/>
              </a:rPr>
              <a:t/>
            </a:r>
          </a:p>
          <a:p>
            <a:pPr marL="240000" indent="-240000">
              <a:lnSpc>
                <a:spcPct val="100000"/>
              </a:lnSpc>
              <a:spcBef>
                <a:spcPts val="500"/>
              </a:spcBef>
              <a:spcAft>
                <a:spcPts val="300"/>
              </a:spcAft>
            </a:pPr>
            <a:r>
              <a:rPr sz="1300" b="0">
                <a:solidFill>
                  <a:srgbClr val="1F2A33"/>
                </a:solidFill>
                <a:latin typeface="Calibri"/>
              </a:rPr>
              <a:t>•  stdio transport: the client launches the server, there is no service to deploy</a:t>
            </a:r>
          </a:p>
          <a:p>
            <a:pPr marL="240000" indent="-240000">
              <a:lnSpc>
                <a:spcPct val="100000"/>
              </a:lnSpc>
              <a:spcBef>
                <a:spcPts val="500"/>
              </a:spcBef>
              <a:spcAft>
                <a:spcPts val="300"/>
              </a:spcAft>
            </a:pPr>
            <a:r>
              <a:rPr sz="1300" b="0">
                <a:solidFill>
                  <a:srgbClr val="1F2A33"/>
                </a:solidFill>
                <a:latin typeface="Calibri"/>
              </a:rPr>
              <a:t>•  Routing is code with tests, not instructions inside a prompt: 68/68 on the dev regression set</a:t>
            </a:r>
          </a:p>
          <a:p>
            <a:pPr marL="240000" indent="-240000">
              <a:lnSpc>
                <a:spcPct val="100000"/>
              </a:lnSpc>
              <a:spcBef>
                <a:spcPts val="500"/>
              </a:spcBef>
              <a:spcAft>
                <a:spcPts val="300"/>
              </a:spcAft>
            </a:pPr>
            <a:r>
              <a:rPr sz="1300" b="0">
                <a:solidFill>
                  <a:srgbClr val="1F2A33"/>
                </a:solidFill>
                <a:latin typeface="Calibri"/>
              </a:rPr>
              <a:t>•  Blind Part-3 set (20 cases, hash fixed): 75% before patches, published as below the 80% gate; 20/20 after, but that set is dev now - a new hold-out is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Hybrid retrieval: Reciprocal Rank Fusion</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7</a:t>
            </a:r>
          </a:p>
        </p:txBody>
      </p:sp>
      <p:sp>
        <p:nvSpPr>
          <p:cNvPr id="6" name="TextBox 5"/>
          <p:cNvSpPr txBox="1"/>
          <p:nvPr/>
        </p:nvSpPr>
        <p:spPr>
          <a:xfrm>
            <a:off x="502920" y="1051560"/>
            <a:ext cx="11185855" cy="731520"/>
          </a:xfrm>
          <a:prstGeom prst="rect">
            <a:avLst/>
          </a:prstGeom>
          <a:noFill/>
        </p:spPr>
        <p:txBody>
          <a:bodyPr wrap="square" anchor="t">
            <a:spAutoFit/>
          </a:bodyPr>
          <a:lstStyle/>
          <a:p>
            <a:pPr algn="ctr">
              <a:lnSpc>
                <a:spcPct val="100000"/>
              </a:lnSpc>
            </a:pPr>
            <a:r>
              <a:rPr sz="2500" b="1">
                <a:solidFill>
                  <a:srgbClr val="0F3D5C"/>
                </a:solidFill>
                <a:latin typeface="Calibri"/>
              </a:rPr>
              <a:t>score(d) = Σ 1 / (k + rank_i(d)),   k = 60</a:t>
            </a:r>
          </a:p>
        </p:txBody>
      </p:sp>
      <p:sp>
        <p:nvSpPr>
          <p:cNvPr id="7" name="TextBox 6"/>
          <p:cNvSpPr txBox="1"/>
          <p:nvPr/>
        </p:nvSpPr>
        <p:spPr>
          <a:xfrm>
            <a:off x="502920" y="1965960"/>
            <a:ext cx="2834640" cy="365760"/>
          </a:xfrm>
          <a:prstGeom prst="rect">
            <a:avLst/>
          </a:prstGeom>
          <a:noFill/>
        </p:spPr>
        <p:txBody>
          <a:bodyPr wrap="square" anchor="t">
            <a:spAutoFit/>
          </a:bodyPr>
          <a:lstStyle/>
          <a:p>
            <a:pPr algn="l">
              <a:lnSpc>
                <a:spcPct val="100000"/>
              </a:lnSpc>
            </a:pPr>
            <a:r>
              <a:rPr sz="1800" b="1">
                <a:solidFill>
                  <a:srgbClr val="0F3D5C"/>
                </a:solidFill>
                <a:latin typeface="Calibri"/>
              </a:rPr>
              <a:t>Why RRF</a:t>
            </a:r>
          </a:p>
        </p:txBody>
      </p:sp>
      <p:sp>
        <p:nvSpPr>
          <p:cNvPr id="8" name="TextBox 7"/>
          <p:cNvSpPr txBox="1"/>
          <p:nvPr/>
        </p:nvSpPr>
        <p:spPr>
          <a:xfrm>
            <a:off x="502920" y="2377440"/>
            <a:ext cx="5394960" cy="2651760"/>
          </a:xfrm>
          <a:prstGeom prst="rect">
            <a:avLst/>
          </a:prstGeom>
          <a:noFill/>
        </p:spPr>
        <p:txBody>
          <a:bodyPr wrap="square" anchor="t">
            <a:spAutoFit/>
          </a:bodyPr>
          <a:lstStyle/>
          <a:p>
            <a:pPr algn="l">
              <a:lnSpc>
                <a:spcPct val="100000"/>
              </a:lnSpc>
            </a:pPr>
            <a:r>
              <a:rPr sz="1400" b="0">
                <a:solidFill>
                  <a:srgbClr val="1F2A33"/>
                </a:solidFill>
                <a:latin typeface="Calibri"/>
              </a:rPr>
              <a:t/>
            </a:r>
          </a:p>
          <a:p>
            <a:pPr marL="240000" indent="-240000">
              <a:lnSpc>
                <a:spcPct val="100000"/>
              </a:lnSpc>
              <a:spcBef>
                <a:spcPts val="500"/>
              </a:spcBef>
              <a:spcAft>
                <a:spcPts val="300"/>
              </a:spcAft>
            </a:pPr>
            <a:r>
              <a:rPr sz="1400" b="0">
                <a:solidFill>
                  <a:srgbClr val="1F2A33"/>
                </a:solidFill>
                <a:latin typeface="Calibri"/>
              </a:rPr>
              <a:t>•  cosine and BM25 produce scores on incomparable scales</a:t>
            </a:r>
          </a:p>
          <a:p>
            <a:pPr marL="240000" indent="-240000">
              <a:lnSpc>
                <a:spcPct val="100000"/>
              </a:lnSpc>
              <a:spcBef>
                <a:spcPts val="500"/>
              </a:spcBef>
              <a:spcAft>
                <a:spcPts val="300"/>
              </a:spcAft>
            </a:pPr>
            <a:r>
              <a:rPr sz="1400" b="0">
                <a:solidFill>
                  <a:srgbClr val="1F2A33"/>
                </a:solidFill>
                <a:latin typeface="Calibri"/>
              </a:rPr>
              <a:t>•  RRF uses ranks only, so there is nothing to calibrate</a:t>
            </a:r>
          </a:p>
          <a:p>
            <a:pPr marL="240000" indent="-240000">
              <a:lnSpc>
                <a:spcPct val="100000"/>
              </a:lnSpc>
              <a:spcBef>
                <a:spcPts val="500"/>
              </a:spcBef>
              <a:spcAft>
                <a:spcPts val="300"/>
              </a:spcAft>
            </a:pPr>
            <a:r>
              <a:rPr sz="1400" b="0">
                <a:solidFill>
                  <a:srgbClr val="1F2A33"/>
                </a:solidFill>
                <a:latin typeface="Calibri"/>
              </a:rPr>
              <a:t>•  BM25 catches exact names, cosine catches meaning; fusion keeps both</a:t>
            </a:r>
          </a:p>
          <a:p>
            <a:pPr marL="240000" indent="-240000">
              <a:lnSpc>
                <a:spcPct val="100000"/>
              </a:lnSpc>
              <a:spcBef>
                <a:spcPts val="500"/>
              </a:spcBef>
              <a:spcAft>
                <a:spcPts val="300"/>
              </a:spcAft>
            </a:pPr>
            <a:r>
              <a:rPr sz="1400" b="0">
                <a:solidFill>
                  <a:srgbClr val="1F2A33"/>
                </a:solidFill>
                <a:latin typeface="Calibri"/>
              </a:rPr>
              <a:t>•  k = 60 damps the first positions so one source cannot dominate</a:t>
            </a:r>
          </a:p>
        </p:txBody>
      </p:sp>
      <p:sp>
        <p:nvSpPr>
          <p:cNvPr id="9" name="Rectangle 8"/>
          <p:cNvSpPr/>
          <p:nvPr/>
        </p:nvSpPr>
        <p:spPr>
          <a:xfrm>
            <a:off x="6080760" y="2011680"/>
            <a:ext cx="9525" cy="2926080"/>
          </a:xfrm>
          <a:prstGeom prst="rect">
            <a:avLst/>
          </a:prstGeom>
          <a:solidFill>
            <a:srgbClr val="D3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965960"/>
            <a:ext cx="5303520" cy="365760"/>
          </a:xfrm>
          <a:prstGeom prst="rect">
            <a:avLst/>
          </a:prstGeom>
          <a:noFill/>
        </p:spPr>
        <p:txBody>
          <a:bodyPr wrap="square" anchor="t">
            <a:spAutoFit/>
          </a:bodyPr>
          <a:lstStyle/>
          <a:p>
            <a:pPr algn="l">
              <a:lnSpc>
                <a:spcPct val="100000"/>
              </a:lnSpc>
            </a:pPr>
            <a:r>
              <a:rPr sz="1800" b="1">
                <a:solidFill>
                  <a:srgbClr val="0F3D5C"/>
                </a:solidFill>
                <a:latin typeface="Calibri"/>
              </a:rPr>
              <a:t>What it bought us (nDCG@10)</a:t>
            </a:r>
          </a:p>
        </p:txBody>
      </p:sp>
      <p:sp>
        <p:nvSpPr>
          <p:cNvPr id="11" name="TextBox 10"/>
          <p:cNvSpPr txBox="1"/>
          <p:nvPr/>
        </p:nvSpPr>
        <p:spPr>
          <a:xfrm>
            <a:off x="6355080" y="2377440"/>
            <a:ext cx="5303520" cy="2651760"/>
          </a:xfrm>
          <a:prstGeom prst="rect">
            <a:avLst/>
          </a:prstGeom>
          <a:noFill/>
        </p:spPr>
        <p:txBody>
          <a:bodyPr wrap="square" anchor="t">
            <a:spAutoFit/>
          </a:bodyPr>
          <a:lstStyle/>
          <a:p>
            <a:pPr algn="l">
              <a:lnSpc>
                <a:spcPct val="100000"/>
              </a:lnSpc>
            </a:pPr>
            <a:r>
              <a:rPr sz="1400" b="0">
                <a:solidFill>
                  <a:srgbClr val="1F2A33"/>
                </a:solidFill>
                <a:latin typeface="Calibri"/>
              </a:rPr>
              <a:t/>
            </a:r>
          </a:p>
          <a:p>
            <a:pPr marL="240000" indent="-240000">
              <a:lnSpc>
                <a:spcPct val="100000"/>
              </a:lnSpc>
              <a:spcBef>
                <a:spcPts val="500"/>
              </a:spcBef>
              <a:spcAft>
                <a:spcPts val="300"/>
              </a:spcAft>
            </a:pPr>
            <a:r>
              <a:rPr sz="1400" b="0">
                <a:solidFill>
                  <a:srgbClr val="1F2A33"/>
                </a:solidFill>
                <a:latin typeface="Calibri"/>
              </a:rPr>
              <a:t>•  Old corpus: hybrid 0.209, vector 0.176 - hybrid was the leader</a:t>
            </a:r>
          </a:p>
          <a:p>
            <a:pPr marL="240000" indent="-240000">
              <a:lnSpc>
                <a:spcPct val="100000"/>
              </a:lnSpc>
              <a:spcBef>
                <a:spcPts val="500"/>
              </a:spcBef>
              <a:spcAft>
                <a:spcPts val="300"/>
              </a:spcAft>
            </a:pPr>
            <a:r>
              <a:rPr sz="1400" b="0">
                <a:solidFill>
                  <a:srgbClr val="1F2A33"/>
                </a:solidFill>
                <a:latin typeface="Calibri"/>
              </a:rPr>
              <a:t>•  Current corpus: vector 0.339, hybrid 0.301</a:t>
            </a:r>
          </a:p>
          <a:p>
            <a:pPr marL="240000" indent="-240000">
              <a:lnSpc>
                <a:spcPct val="100000"/>
              </a:lnSpc>
              <a:spcBef>
                <a:spcPts val="500"/>
              </a:spcBef>
              <a:spcAft>
                <a:spcPts val="300"/>
              </a:spcAft>
            </a:pPr>
            <a:r>
              <a:rPr sz="1400" b="0">
                <a:solidFill>
                  <a:srgbClr val="1F2A33"/>
                </a:solidFill>
                <a:latin typeface="Calibri"/>
              </a:rPr>
              <a:t>•  A weighted Pearson variant reaches 0.337, but needs tuned weights</a:t>
            </a:r>
          </a:p>
          <a:p>
            <a:pPr marL="240000" indent="-240000">
              <a:lnSpc>
                <a:spcPct val="100000"/>
              </a:lnSpc>
              <a:spcBef>
                <a:spcPts val="500"/>
              </a:spcBef>
              <a:spcAft>
                <a:spcPts val="300"/>
              </a:spcAft>
            </a:pPr>
            <a:r>
              <a:rPr sz="1400" b="0">
                <a:solidFill>
                  <a:srgbClr val="1F2A33"/>
                </a:solidFill>
                <a:latin typeface="Calibri"/>
              </a:rPr>
              <a:t>•  Latency stays at 40-60 ms per query on CPU</a:t>
            </a:r>
          </a:p>
        </p:txBody>
      </p:sp>
      <p:sp>
        <p:nvSpPr>
          <p:cNvPr id="12" name="Rounded Rectangle 11"/>
          <p:cNvSpPr/>
          <p:nvPr/>
        </p:nvSpPr>
        <p:spPr>
          <a:xfrm>
            <a:off x="502920" y="4526280"/>
            <a:ext cx="11185855" cy="960120"/>
          </a:xfrm>
          <a:prstGeom prst="roundRect">
            <a:avLst/>
          </a:prstGeom>
          <a:solidFill>
            <a:srgbClr val="EAF2F7"/>
          </a:solidFill>
          <a:ln>
            <a:solidFill>
              <a:srgbClr val="D3E2E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r>
              <a:rPr sz="1300">
                <a:solidFill>
                  <a:srgbClr val="1F2A33"/>
                </a:solidFill>
                <a:latin typeface="Calibri"/>
              </a:rPr>
              <a:t>Example: query "ПередЗаписью". BM25 lifts modules that contain the exact handler name, cosine adds related meaning, and RRF merges the two rankings without a weight search.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Negative result: the cross-encoder reranker</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8</a:t>
            </a:r>
          </a:p>
        </p:txBody>
      </p:sp>
      <p:sp>
        <p:nvSpPr>
          <p:cNvPr id="6" name="TextBox 5"/>
          <p:cNvSpPr txBox="1"/>
          <p:nvPr/>
        </p:nvSpPr>
        <p:spPr>
          <a:xfrm>
            <a:off x="502920" y="1097280"/>
            <a:ext cx="5486400" cy="457200"/>
          </a:xfrm>
          <a:prstGeom prst="rect">
            <a:avLst/>
          </a:prstGeom>
          <a:noFill/>
        </p:spPr>
        <p:txBody>
          <a:bodyPr wrap="square" anchor="t">
            <a:spAutoFit/>
          </a:bodyPr>
          <a:lstStyle/>
          <a:p>
            <a:pPr algn="l">
              <a:lnSpc>
                <a:spcPct val="100000"/>
              </a:lnSpc>
            </a:pPr>
            <a:r>
              <a:rPr sz="1900" b="1">
                <a:solidFill>
                  <a:srgbClr val="0F3D5C"/>
                </a:solidFill>
                <a:latin typeface="Calibri"/>
              </a:rPr>
              <a:t>What I built</a:t>
            </a:r>
          </a:p>
        </p:txBody>
      </p:sp>
      <p:sp>
        <p:nvSpPr>
          <p:cNvPr id="7" name="TextBox 6"/>
          <p:cNvSpPr txBox="1"/>
          <p:nvPr/>
        </p:nvSpPr>
        <p:spPr>
          <a:xfrm>
            <a:off x="502920" y="1554480"/>
            <a:ext cx="5394960" cy="4023360"/>
          </a:xfrm>
          <a:prstGeom prst="rect">
            <a:avLst/>
          </a:prstGeom>
          <a:noFill/>
        </p:spPr>
        <p:txBody>
          <a:bodyPr wrap="square" anchor="t">
            <a:spAutoFit/>
          </a:bodyPr>
          <a:lstStyle/>
          <a:p>
            <a:pPr algn="l">
              <a:lnSpc>
                <a:spcPct val="100000"/>
              </a:lnSpc>
            </a:pPr>
            <a:r>
              <a:rPr sz="1400" b="0">
                <a:solidFill>
                  <a:srgbClr val="1F2A33"/>
                </a:solidFill>
                <a:latin typeface="Calibri"/>
              </a:rPr>
              <a:t/>
            </a:r>
          </a:p>
          <a:p>
            <a:pPr marL="240000" indent="-240000">
              <a:lnSpc>
                <a:spcPct val="100000"/>
              </a:lnSpc>
              <a:spcBef>
                <a:spcPts val="500"/>
              </a:spcBef>
              <a:spcAft>
                <a:spcPts val="300"/>
              </a:spcAft>
            </a:pPr>
            <a:r>
              <a:rPr sz="1400" b="0">
                <a:solidFill>
                  <a:srgbClr val="1F2A33"/>
                </a:solidFill>
                <a:latin typeface="Calibri"/>
              </a:rPr>
              <a:t>•  flashrank 0.2.10 with an ONNX cross-encoder on CPU, no PyTorch</a:t>
            </a:r>
          </a:p>
          <a:p>
            <a:pPr marL="240000" indent="-240000">
              <a:lnSpc>
                <a:spcPct val="100000"/>
              </a:lnSpc>
              <a:spcBef>
                <a:spcPts val="500"/>
              </a:spcBef>
              <a:spcAft>
                <a:spcPts val="300"/>
              </a:spcAft>
            </a:pPr>
            <a:r>
              <a:rPr sz="1400" b="0">
                <a:solidFill>
                  <a:srgbClr val="1F2A33"/>
                </a:solidFill>
                <a:latin typeface="Calibri"/>
              </a:rPr>
              <a:t>•  ms-marco-MultiBERT-L-12, max_length = 128</a:t>
            </a:r>
          </a:p>
          <a:p>
            <a:pPr marL="240000" indent="-240000">
              <a:lnSpc>
                <a:spcPct val="100000"/>
              </a:lnSpc>
              <a:spcBef>
                <a:spcPts val="500"/>
              </a:spcBef>
              <a:spcAft>
                <a:spcPts val="300"/>
              </a:spcAft>
            </a:pPr>
            <a:r>
              <a:rPr sz="1400" b="0">
                <a:solidFill>
                  <a:srgbClr val="1F2A33"/>
                </a:solidFill>
                <a:latin typeface="Calibri"/>
              </a:rPr>
              <a:t>•  Input: top-20 RRF candidates; a passage is the file path plus its code</a:t>
            </a:r>
          </a:p>
          <a:p>
            <a:pPr marL="240000" indent="-240000">
              <a:lnSpc>
                <a:spcPct val="100000"/>
              </a:lnSpc>
              <a:spcBef>
                <a:spcPts val="500"/>
              </a:spcBef>
              <a:spcAft>
                <a:spcPts val="300"/>
              </a:spcAft>
            </a:pPr>
            <a:r>
              <a:rPr sz="1400" b="0">
                <a:solidFill>
                  <a:srgbClr val="1F2A33"/>
                </a:solidFill>
                <a:latin typeface="Calibri"/>
              </a:rPr>
              <a:t>•  Lazy model load, cache on disk, one extra stage after fusion</a:t>
            </a:r>
          </a:p>
        </p:txBody>
      </p:sp>
      <p:sp>
        <p:nvSpPr>
          <p:cNvPr id="8" name="Rectangle 7"/>
          <p:cNvSpPr/>
          <p:nvPr/>
        </p:nvSpPr>
        <p:spPr>
          <a:xfrm>
            <a:off x="6080760" y="1188720"/>
            <a:ext cx="9525" cy="4480560"/>
          </a:xfrm>
          <a:prstGeom prst="rect">
            <a:avLst/>
          </a:prstGeom>
          <a:solidFill>
            <a:srgbClr val="D3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097280"/>
            <a:ext cx="5303520" cy="457200"/>
          </a:xfrm>
          <a:prstGeom prst="rect">
            <a:avLst/>
          </a:prstGeom>
          <a:noFill/>
        </p:spPr>
        <p:txBody>
          <a:bodyPr wrap="square" anchor="t">
            <a:spAutoFit/>
          </a:bodyPr>
          <a:lstStyle/>
          <a:p>
            <a:pPr algn="l">
              <a:lnSpc>
                <a:spcPct val="100000"/>
              </a:lnSpc>
            </a:pPr>
            <a:r>
              <a:rPr sz="1900" b="1">
                <a:solidFill>
                  <a:srgbClr val="0F3D5C"/>
                </a:solidFill>
                <a:latin typeface="Calibri"/>
              </a:rPr>
              <a:t>What it did to quality</a:t>
            </a:r>
          </a:p>
        </p:txBody>
      </p:sp>
      <p:sp>
        <p:nvSpPr>
          <p:cNvPr id="10" name="TextBox 9"/>
          <p:cNvSpPr txBox="1"/>
          <p:nvPr/>
        </p:nvSpPr>
        <p:spPr>
          <a:xfrm>
            <a:off x="6355080" y="1554480"/>
            <a:ext cx="5303520" cy="4023360"/>
          </a:xfrm>
          <a:prstGeom prst="rect">
            <a:avLst/>
          </a:prstGeom>
          <a:noFill/>
        </p:spPr>
        <p:txBody>
          <a:bodyPr wrap="square" anchor="t">
            <a:spAutoFit/>
          </a:bodyPr>
          <a:lstStyle/>
          <a:p>
            <a:pPr algn="l">
              <a:lnSpc>
                <a:spcPct val="100000"/>
              </a:lnSpc>
            </a:pPr>
            <a:r>
              <a:rPr sz="1400" b="0">
                <a:solidFill>
                  <a:srgbClr val="1F2A33"/>
                </a:solidFill>
                <a:latin typeface="Calibri"/>
              </a:rPr>
              <a:t/>
            </a:r>
          </a:p>
          <a:p>
            <a:pPr marL="240000" indent="-240000">
              <a:lnSpc>
                <a:spcPct val="100000"/>
              </a:lnSpc>
              <a:spcBef>
                <a:spcPts val="500"/>
              </a:spcBef>
              <a:spcAft>
                <a:spcPts val="300"/>
              </a:spcAft>
            </a:pPr>
            <a:r>
              <a:rPr sz="1400" b="0">
                <a:solidFill>
                  <a:srgbClr val="A83A3A"/>
                </a:solidFill>
                <a:latin typeface="Calibri"/>
              </a:rPr>
              <a:t>•  Old corpus: 0.209 → 0.069</a:t>
            </a:r>
          </a:p>
          <a:p>
            <a:pPr marL="240000" indent="-240000">
              <a:lnSpc>
                <a:spcPct val="100000"/>
              </a:lnSpc>
              <a:spcBef>
                <a:spcPts val="500"/>
              </a:spcBef>
              <a:spcAft>
                <a:spcPts val="300"/>
              </a:spcAft>
            </a:pPr>
            <a:r>
              <a:rPr sz="1400" b="0">
                <a:solidFill>
                  <a:srgbClr val="A83A3A"/>
                </a:solidFill>
                <a:latin typeface="Calibri"/>
              </a:rPr>
              <a:t>•  Current corpus: 0.117 against 0.301 for plain hybrid</a:t>
            </a:r>
          </a:p>
          <a:p>
            <a:pPr marL="240000" indent="-240000">
              <a:lnSpc>
                <a:spcPct val="100000"/>
              </a:lnSpc>
              <a:spcBef>
                <a:spcPts val="500"/>
              </a:spcBef>
              <a:spcAft>
                <a:spcPts val="300"/>
              </a:spcAft>
            </a:pPr>
            <a:r>
              <a:rPr sz="1400" b="0">
                <a:solidFill>
                  <a:srgbClr val="1F2A33"/>
                </a:solidFill>
                <a:latin typeface="Calibri"/>
              </a:rPr>
              <a:t>•  Latency ~2.4 s per query on CPU</a:t>
            </a:r>
          </a:p>
          <a:p>
            <a:pPr marL="240000" indent="-240000">
              <a:lnSpc>
                <a:spcPct val="100000"/>
              </a:lnSpc>
              <a:spcBef>
                <a:spcPts val="500"/>
              </a:spcBef>
              <a:spcAft>
                <a:spcPts val="300"/>
              </a:spcAft>
            </a:pPr>
            <a:r>
              <a:rPr sz="1300" b="0">
                <a:solidFill>
                  <a:srgbClr val="1F2A33"/>
                </a:solidFill>
                <a:latin typeface="Calibri"/>
              </a:rPr>
              <a:t>•  Hypothesis: trained on web passages; BSL is long, repetitive, identifier-heavy code</a:t>
            </a:r>
          </a:p>
          <a:p>
            <a:pPr marL="240000" indent="-240000">
              <a:lnSpc>
                <a:spcPct val="100000"/>
              </a:lnSpc>
              <a:spcBef>
                <a:spcPts val="500"/>
              </a:spcBef>
              <a:spcAft>
                <a:spcPts val="300"/>
              </a:spcAft>
            </a:pPr>
            <a:r>
              <a:rPr sz="1400" b="0">
                <a:solidFill>
                  <a:srgbClr val="0F3D5C"/>
                </a:solidFill>
                <a:latin typeface="Calibri"/>
              </a:rPr>
              <a:t>•  Decision: kept as an option, not the default (ADR 0002)</a:t>
            </a:r>
          </a:p>
        </p:txBody>
      </p:sp>
      <p:sp>
        <p:nvSpPr>
          <p:cNvPr id="11" name="Rounded Rectangle 10"/>
          <p:cNvSpPr/>
          <p:nvPr/>
        </p:nvSpPr>
        <p:spPr>
          <a:xfrm>
            <a:off x="502920" y="4526280"/>
            <a:ext cx="11185855" cy="868680"/>
          </a:xfrm>
          <a:prstGeom prst="roundRect">
            <a:avLst/>
          </a:prstGeom>
          <a:solidFill>
            <a:srgbClr val="EAF2F7"/>
          </a:solidFill>
          <a:ln>
            <a:solidFill>
              <a:srgbClr val="D3E2E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r>
              <a:rPr sz="1300">
                <a:solidFill>
                  <a:srgbClr val="0F3D5C"/>
                </a:solidFill>
                <a:latin typeface="Calibri"/>
              </a:rPr>
              <a:t>The losing configuration stays in the report. Nothing was tuned until the numbers looked good.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How quality was measured</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9</a:t>
            </a:r>
          </a:p>
        </p:txBody>
      </p:sp>
      <p:sp>
        <p:nvSpPr>
          <p:cNvPr id="6" name="TextBox 5"/>
          <p:cNvSpPr txBox="1"/>
          <p:nvPr/>
        </p:nvSpPr>
        <p:spPr>
          <a:xfrm>
            <a:off x="502920" y="1097280"/>
            <a:ext cx="5577840" cy="457200"/>
          </a:xfrm>
          <a:prstGeom prst="rect">
            <a:avLst/>
          </a:prstGeom>
          <a:noFill/>
        </p:spPr>
        <p:txBody>
          <a:bodyPr wrap="square" anchor="t">
            <a:spAutoFit/>
          </a:bodyPr>
          <a:lstStyle/>
          <a:p>
            <a:pPr algn="l">
              <a:lnSpc>
                <a:spcPct val="100000"/>
              </a:lnSpc>
            </a:pPr>
            <a:r>
              <a:rPr sz="1900" b="1">
                <a:solidFill>
                  <a:srgbClr val="0F3D5C"/>
                </a:solidFill>
                <a:latin typeface="Calibri"/>
              </a:rPr>
              <a:t>Gold-set v2</a:t>
            </a:r>
          </a:p>
        </p:txBody>
      </p:sp>
      <p:sp>
        <p:nvSpPr>
          <p:cNvPr id="7" name="TextBox 6"/>
          <p:cNvSpPr txBox="1"/>
          <p:nvPr/>
        </p:nvSpPr>
        <p:spPr>
          <a:xfrm>
            <a:off x="502920" y="1554480"/>
            <a:ext cx="5486400" cy="3657600"/>
          </a:xfrm>
          <a:prstGeom prst="rect">
            <a:avLst/>
          </a:prstGeom>
          <a:noFill/>
        </p:spPr>
        <p:txBody>
          <a:bodyPr wrap="square" anchor="t">
            <a:spAutoFit/>
          </a:bodyPr>
          <a:lstStyle/>
          <a:p>
            <a:pPr algn="l">
              <a:lnSpc>
                <a:spcPct val="100000"/>
              </a:lnSpc>
            </a:pPr>
            <a:r>
              <a:rPr sz="1500" b="0">
                <a:solidFill>
                  <a:srgbClr val="1F2A33"/>
                </a:solidFill>
                <a:latin typeface="Calibri"/>
              </a:rPr>
              <a:t/>
            </a:r>
          </a:p>
          <a:p>
            <a:pPr marL="240000" indent="-240000">
              <a:lnSpc>
                <a:spcPct val="100000"/>
              </a:lnSpc>
              <a:spcBef>
                <a:spcPts val="500"/>
              </a:spcBef>
              <a:spcAft>
                <a:spcPts val="300"/>
              </a:spcAft>
            </a:pPr>
            <a:r>
              <a:rPr sz="1500" b="0">
                <a:solidFill>
                  <a:srgbClr val="1F2A33"/>
                </a:solidFill>
                <a:latin typeface="Calibri"/>
              </a:rPr>
              <a:t>•  70 natural-language queries: 30 curated plus 40 generated over configuration objects</a:t>
            </a:r>
          </a:p>
          <a:p>
            <a:pPr marL="240000" indent="-240000">
              <a:lnSpc>
                <a:spcPct val="100000"/>
              </a:lnSpc>
              <a:spcBef>
                <a:spcPts val="500"/>
              </a:spcBef>
              <a:spcAft>
                <a:spcPts val="300"/>
              </a:spcAft>
            </a:pPr>
            <a:r>
              <a:rPr sz="1500" b="0">
                <a:solidFill>
                  <a:srgbClr val="1F2A33"/>
                </a:solidFill>
                <a:latin typeface="Calibri"/>
              </a:rPr>
              <a:t>•  Three query types: exact, semantic, trap</a:t>
            </a:r>
          </a:p>
          <a:p>
            <a:pPr marL="240000" indent="-240000">
              <a:lnSpc>
                <a:spcPct val="100000"/>
              </a:lnSpc>
              <a:spcBef>
                <a:spcPts val="500"/>
              </a:spcBef>
              <a:spcAft>
                <a:spcPts val="300"/>
              </a:spcAft>
            </a:pPr>
            <a:r>
              <a:rPr sz="1500" b="0">
                <a:solidFill>
                  <a:srgbClr val="1F2A33"/>
                </a:solidFill>
                <a:latin typeface="Calibri"/>
              </a:rPr>
              <a:t>•  Relevance is scored at the source-file level, not per chunk</a:t>
            </a:r>
          </a:p>
          <a:p>
            <a:pPr marL="240000" indent="-240000">
              <a:lnSpc>
                <a:spcPct val="100000"/>
              </a:lnSpc>
              <a:spcBef>
                <a:spcPts val="500"/>
              </a:spcBef>
              <a:spcAft>
                <a:spcPts val="300"/>
              </a:spcAft>
            </a:pPr>
            <a:r>
              <a:rPr sz="1500" b="0">
                <a:solidFill>
                  <a:srgbClr val="1F2A33"/>
                </a:solidFill>
                <a:latin typeface="Calibri"/>
              </a:rPr>
              <a:t>•  Duplicate chunks from one file are collapsed before scoring (ADR 0004)</a:t>
            </a:r>
          </a:p>
          <a:p>
            <a:pPr marL="240000" indent="-240000">
              <a:lnSpc>
                <a:spcPct val="100000"/>
              </a:lnSpc>
              <a:spcBef>
                <a:spcPts val="500"/>
              </a:spcBef>
              <a:spcAft>
                <a:spcPts val="300"/>
              </a:spcAft>
            </a:pPr>
            <a:r>
              <a:rPr sz="1500" b="0">
                <a:solidFill>
                  <a:srgbClr val="1F2A33"/>
                </a:solidFill>
                <a:latin typeface="Calibri"/>
              </a:rPr>
              <a:t>•  Metrics: Hit@1, MRR@10, nDCG@10, Recall@10; four independent runs, a fresh process each</a:t>
            </a:r>
          </a:p>
        </p:txBody>
      </p:sp>
      <p:sp>
        <p:nvSpPr>
          <p:cNvPr id="8" name="Rectangle 7"/>
          <p:cNvSpPr/>
          <p:nvPr/>
        </p:nvSpPr>
        <p:spPr>
          <a:xfrm>
            <a:off x="6172200" y="1188720"/>
            <a:ext cx="9525" cy="4343400"/>
          </a:xfrm>
          <a:prstGeom prst="rect">
            <a:avLst/>
          </a:prstGeom>
          <a:solidFill>
            <a:srgbClr val="D3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097280"/>
            <a:ext cx="4937760" cy="457200"/>
          </a:xfrm>
          <a:prstGeom prst="rect">
            <a:avLst/>
          </a:prstGeom>
          <a:noFill/>
        </p:spPr>
        <p:txBody>
          <a:bodyPr wrap="square" anchor="t">
            <a:spAutoFit/>
          </a:bodyPr>
          <a:lstStyle/>
          <a:p>
            <a:pPr algn="l">
              <a:lnSpc>
                <a:spcPct val="100000"/>
              </a:lnSpc>
            </a:pPr>
            <a:r>
              <a:rPr sz="1900" b="1">
                <a:solidFill>
                  <a:srgbClr val="0F3D5C"/>
                </a:solidFill>
                <a:latin typeface="Calibri"/>
              </a:rPr>
              <a:t>Why this way</a:t>
            </a:r>
          </a:p>
        </p:txBody>
      </p:sp>
      <p:sp>
        <p:nvSpPr>
          <p:cNvPr id="10" name="TextBox 9"/>
          <p:cNvSpPr txBox="1"/>
          <p:nvPr/>
        </p:nvSpPr>
        <p:spPr>
          <a:xfrm>
            <a:off x="6446520" y="1554480"/>
            <a:ext cx="4937760" cy="3657600"/>
          </a:xfrm>
          <a:prstGeom prst="rect">
            <a:avLst/>
          </a:prstGeom>
          <a:noFill/>
        </p:spPr>
        <p:txBody>
          <a:bodyPr wrap="square" anchor="t">
            <a:spAutoFit/>
          </a:bodyPr>
          <a:lstStyle/>
          <a:p>
            <a:pPr algn="l">
              <a:lnSpc>
                <a:spcPct val="100000"/>
              </a:lnSpc>
            </a:pPr>
            <a:r>
              <a:rPr sz="1500" b="0">
                <a:solidFill>
                  <a:srgbClr val="1F2A33"/>
                </a:solidFill>
                <a:latin typeface="Calibri"/>
              </a:rPr>
              <a:t/>
            </a:r>
          </a:p>
          <a:p>
            <a:pPr marL="240000" indent="-240000">
              <a:lnSpc>
                <a:spcPct val="100000"/>
              </a:lnSpc>
              <a:spcBef>
                <a:spcPts val="500"/>
              </a:spcBef>
              <a:spcAft>
                <a:spcPts val="300"/>
              </a:spcAft>
            </a:pPr>
            <a:r>
              <a:rPr sz="1500" b="0">
                <a:solidFill>
                  <a:srgbClr val="1F2A33"/>
                </a:solidFill>
                <a:latin typeface="Calibri"/>
              </a:rPr>
              <a:t>•  Chunk-level ground truth scored a correct file as a miss: false zeros</a:t>
            </a:r>
          </a:p>
          <a:p>
            <a:pPr marL="240000" indent="-240000">
              <a:lnSpc>
                <a:spcPct val="100000"/>
              </a:lnSpc>
              <a:spcBef>
                <a:spcPts val="500"/>
              </a:spcBef>
              <a:spcAft>
                <a:spcPts val="300"/>
              </a:spcAft>
            </a:pPr>
            <a:r>
              <a:rPr sz="1500" b="0">
                <a:solidFill>
                  <a:srgbClr val="1F2A33"/>
                </a:solidFill>
                <a:latin typeface="Calibri"/>
              </a:rPr>
              <a:t>•  File-level relevance stays stable when the chunking changes</a:t>
            </a:r>
          </a:p>
          <a:p>
            <a:pPr marL="240000" indent="-240000">
              <a:lnSpc>
                <a:spcPct val="100000"/>
              </a:lnSpc>
              <a:spcBef>
                <a:spcPts val="500"/>
              </a:spcBef>
              <a:spcAft>
                <a:spcPts val="300"/>
              </a:spcAft>
            </a:pPr>
            <a:r>
              <a:rPr sz="1500" b="0">
                <a:solidFill>
                  <a:srgbClr val="1F2A33"/>
                </a:solidFill>
                <a:latin typeface="Calibri"/>
              </a:rPr>
              <a:t>•  Recall@k is normalised by min(|relevant|, k)</a:t>
            </a:r>
          </a:p>
          <a:p>
            <a:pPr marL="240000" indent="-240000">
              <a:lnSpc>
                <a:spcPct val="100000"/>
              </a:lnSpc>
              <a:spcBef>
                <a:spcPts val="500"/>
              </a:spcBef>
              <a:spcAft>
                <a:spcPts val="300"/>
              </a:spcAft>
            </a:pPr>
            <a:r>
              <a:rPr sz="1500" b="0">
                <a:solidFill>
                  <a:srgbClr val="1F2A33"/>
                </a:solidFill>
                <a:latin typeface="Calibri"/>
              </a:rPr>
              <a:t>•  std of 0.023 for vector means the result is reproducible, not a lucky run</a:t>
            </a:r>
          </a:p>
          <a:p>
            <a:pPr marL="240000" indent="-240000">
              <a:lnSpc>
                <a:spcPct val="100000"/>
              </a:lnSpc>
              <a:spcBef>
                <a:spcPts val="500"/>
              </a:spcBef>
              <a:spcAft>
                <a:spcPts val="300"/>
              </a:spcAft>
            </a:pPr>
            <a:r>
              <a:rPr sz="1500" b="0">
                <a:solidFill>
                  <a:srgbClr val="1F2A33"/>
                </a:solidFill>
                <a:latin typeface="Calibri"/>
              </a:rPr>
              <a:t>•  Each run reloads the index: the numbers are means, not a best-of selection</a:t>
            </a:r>
          </a:p>
        </p:txBody>
      </p:sp>
      <p:sp>
        <p:nvSpPr>
          <p:cNvPr id="11" name="Rounded Rectangle 10"/>
          <p:cNvSpPr/>
          <p:nvPr/>
        </p:nvSpPr>
        <p:spPr>
          <a:xfrm>
            <a:off x="502920" y="5257800"/>
            <a:ext cx="11185855" cy="777240"/>
          </a:xfrm>
          <a:prstGeom prst="roundRect">
            <a:avLst/>
          </a:prstGeom>
          <a:solidFill>
            <a:srgbClr val="EAF2F7"/>
          </a:solidFill>
          <a:ln>
            <a:solidFill>
              <a:srgbClr val="D3E2E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r>
              <a:rPr sz="1300">
                <a:solidFill>
                  <a:srgbClr val="1F2A33"/>
                </a:solidFill>
                <a:latin typeface="Calibri"/>
              </a:rPr>
              <a:t>Every number in this talk is a mean of four independent runs, reported together with its standard deviation.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Results: gold-set v2, 70 queries, k = 10</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10</a:t>
            </a:r>
          </a:p>
        </p:txBody>
      </p:sp>
      <p:graphicFrame>
        <p:nvGraphicFramePr>
          <p:cNvPr id="6" name="Table 5"/>
          <p:cNvGraphicFramePr>
            <a:graphicFrameLocks noGrp="1"/>
          </p:cNvGraphicFramePr>
          <p:nvPr/>
        </p:nvGraphicFramePr>
        <p:xfrm>
          <a:off x="502920" y="1051560"/>
          <a:ext cx="11185852" cy="1874519"/>
        </p:xfrm>
        <a:graphic>
          <a:graphicData uri="http://schemas.openxmlformats.org/drawingml/2006/table">
            <a:tbl>
              <a:tblPr firstRow="1" bandRow="1">
                <a:tableStyleId>{5C22544A-7EE6-4342-B048-85BDC9FD1C3A}</a:tableStyleId>
              </a:tblPr>
              <a:tblGrid>
                <a:gridCol w="2796463"/>
                <a:gridCol w="2074795"/>
                <a:gridCol w="2074795"/>
                <a:gridCol w="2165004"/>
                <a:gridCol w="2074795"/>
              </a:tblGrid>
              <a:tr h="374903">
                <a:tc>
                  <a:txBody>
                    <a:bodyPr lIns="73152" rIns="73152" tIns="18288" bIns="18288"/>
                    <a:lstStyle/>
                    <a:p>
                      <a:r>
                        <a:rPr sz="1200" b="1">
                          <a:solidFill>
                            <a:srgbClr val="FFFFFF"/>
                          </a:solidFill>
                          <a:latin typeface="Calibri"/>
                        </a:rPr>
                        <a:t>Configuration</a:t>
                      </a:r>
                    </a:p>
                  </a:txBody>
                  <a:tcPr anchor="ctr">
                    <a:solidFill>
                      <a:srgbClr val="0F3D5C"/>
                    </a:solidFill>
                  </a:tcPr>
                </a:tc>
                <a:tc>
                  <a:txBody>
                    <a:bodyPr lIns="73152" rIns="73152" tIns="18288" bIns="18288"/>
                    <a:lstStyle/>
                    <a:p>
                      <a:r>
                        <a:rPr sz="1200" b="1">
                          <a:solidFill>
                            <a:srgbClr val="FFFFFF"/>
                          </a:solidFill>
                          <a:latin typeface="Calibri"/>
                        </a:rPr>
                        <a:t>Hit@1</a:t>
                      </a:r>
                    </a:p>
                  </a:txBody>
                  <a:tcPr anchor="ctr">
                    <a:solidFill>
                      <a:srgbClr val="0F3D5C"/>
                    </a:solidFill>
                  </a:tcPr>
                </a:tc>
                <a:tc>
                  <a:txBody>
                    <a:bodyPr lIns="73152" rIns="73152" tIns="18288" bIns="18288"/>
                    <a:lstStyle/>
                    <a:p>
                      <a:r>
                        <a:rPr sz="1200" b="1">
                          <a:solidFill>
                            <a:srgbClr val="FFFFFF"/>
                          </a:solidFill>
                          <a:latin typeface="Calibri"/>
                        </a:rPr>
                        <a:t>MRR@10</a:t>
                      </a:r>
                    </a:p>
                  </a:txBody>
                  <a:tcPr anchor="ctr">
                    <a:solidFill>
                      <a:srgbClr val="0F3D5C"/>
                    </a:solidFill>
                  </a:tcPr>
                </a:tc>
                <a:tc>
                  <a:txBody>
                    <a:bodyPr lIns="73152" rIns="73152" tIns="18288" bIns="18288"/>
                    <a:lstStyle/>
                    <a:p>
                      <a:r>
                        <a:rPr sz="1200" b="1">
                          <a:solidFill>
                            <a:srgbClr val="FFFFFF"/>
                          </a:solidFill>
                          <a:latin typeface="Calibri"/>
                        </a:rPr>
                        <a:t>nDCG@10</a:t>
                      </a:r>
                    </a:p>
                  </a:txBody>
                  <a:tcPr anchor="ctr">
                    <a:solidFill>
                      <a:srgbClr val="0F3D5C"/>
                    </a:solidFill>
                  </a:tcPr>
                </a:tc>
                <a:tc>
                  <a:txBody>
                    <a:bodyPr lIns="73152" rIns="73152" tIns="18288" bIns="18288"/>
                    <a:lstStyle/>
                    <a:p>
                      <a:r>
                        <a:rPr sz="1200" b="1">
                          <a:solidFill>
                            <a:srgbClr val="FFFFFF"/>
                          </a:solidFill>
                          <a:latin typeface="Calibri"/>
                        </a:rPr>
                        <a:t>Recall@10</a:t>
                      </a:r>
                    </a:p>
                  </a:txBody>
                  <a:tcPr anchor="ctr">
                    <a:solidFill>
                      <a:srgbClr val="0F3D5C"/>
                    </a:solidFill>
                  </a:tcPr>
                </a:tc>
              </a:tr>
              <a:tr h="374903">
                <a:tc>
                  <a:txBody>
                    <a:bodyPr lIns="73152" rIns="73152" tIns="18288" bIns="18288"/>
                    <a:lstStyle/>
                    <a:p>
                      <a:r>
                        <a:rPr sz="1200" b="0">
                          <a:solidFill>
                            <a:srgbClr val="1F2A33"/>
                          </a:solidFill>
                          <a:latin typeface="Calibri"/>
                        </a:rPr>
                        <a:t>vector</a:t>
                      </a:r>
                    </a:p>
                  </a:txBody>
                  <a:tcPr anchor="ctr">
                    <a:solidFill>
                      <a:srgbClr val="FFFFFF"/>
                    </a:solidFill>
                  </a:tcPr>
                </a:tc>
                <a:tc>
                  <a:txBody>
                    <a:bodyPr lIns="73152" rIns="73152" tIns="18288" bIns="18288"/>
                    <a:lstStyle/>
                    <a:p>
                      <a:r>
                        <a:rPr sz="1200" b="0">
                          <a:solidFill>
                            <a:srgbClr val="1F2A33"/>
                          </a:solidFill>
                          <a:latin typeface="Calibri"/>
                        </a:rPr>
                        <a:t>0.150 ± 0.007</a:t>
                      </a:r>
                    </a:p>
                  </a:txBody>
                  <a:tcPr anchor="ctr">
                    <a:solidFill>
                      <a:srgbClr val="FFFFFF"/>
                    </a:solidFill>
                  </a:tcPr>
                </a:tc>
                <a:tc>
                  <a:txBody>
                    <a:bodyPr lIns="73152" rIns="73152" tIns="18288" bIns="18288"/>
                    <a:lstStyle/>
                    <a:p>
                      <a:r>
                        <a:rPr sz="1200" b="0">
                          <a:solidFill>
                            <a:srgbClr val="1F2A33"/>
                          </a:solidFill>
                          <a:latin typeface="Calibri"/>
                        </a:rPr>
                        <a:t>0.268 ± 0.019</a:t>
                      </a:r>
                    </a:p>
                  </a:txBody>
                  <a:tcPr anchor="ctr">
                    <a:solidFill>
                      <a:srgbClr val="FFFFFF"/>
                    </a:solidFill>
                  </a:tcPr>
                </a:tc>
                <a:tc>
                  <a:txBody>
                    <a:bodyPr lIns="73152" rIns="73152" tIns="18288" bIns="18288"/>
                    <a:lstStyle/>
                    <a:p>
                      <a:r>
                        <a:rPr sz="1200" b="0">
                          <a:solidFill>
                            <a:srgbClr val="1F2A33"/>
                          </a:solidFill>
                          <a:latin typeface="Calibri"/>
                        </a:rPr>
                        <a:t>0.339 ± 0.023</a:t>
                      </a:r>
                    </a:p>
                  </a:txBody>
                  <a:tcPr anchor="ctr">
                    <a:solidFill>
                      <a:srgbClr val="FFFFFF"/>
                    </a:solidFill>
                  </a:tcPr>
                </a:tc>
                <a:tc>
                  <a:txBody>
                    <a:bodyPr lIns="73152" rIns="73152" tIns="18288" bIns="18288"/>
                    <a:lstStyle/>
                    <a:p>
                      <a:r>
                        <a:rPr sz="1200" b="0">
                          <a:solidFill>
                            <a:srgbClr val="1F2A33"/>
                          </a:solidFill>
                          <a:latin typeface="Calibri"/>
                        </a:rPr>
                        <a:t>0.523 ± 0.030</a:t>
                      </a:r>
                    </a:p>
                  </a:txBody>
                  <a:tcPr anchor="ctr">
                    <a:solidFill>
                      <a:srgbClr val="FFFFFF"/>
                    </a:solidFill>
                  </a:tcPr>
                </a:tc>
              </a:tr>
              <a:tr h="374903">
                <a:tc>
                  <a:txBody>
                    <a:bodyPr lIns="73152" rIns="73152" tIns="18288" bIns="18288"/>
                    <a:lstStyle/>
                    <a:p>
                      <a:r>
                        <a:rPr sz="1200" b="0">
                          <a:solidFill>
                            <a:srgbClr val="1F2A33"/>
                          </a:solidFill>
                          <a:latin typeface="Calibri"/>
                        </a:rPr>
                        <a:t>pearson</a:t>
                      </a:r>
                    </a:p>
                  </a:txBody>
                  <a:tcPr anchor="ctr">
                    <a:solidFill>
                      <a:srgbClr val="EAF2F7"/>
                    </a:solidFill>
                  </a:tcPr>
                </a:tc>
                <a:tc>
                  <a:txBody>
                    <a:bodyPr lIns="73152" rIns="73152" tIns="18288" bIns="18288"/>
                    <a:lstStyle/>
                    <a:p>
                      <a:r>
                        <a:rPr sz="1200" b="0">
                          <a:solidFill>
                            <a:srgbClr val="1F2A33"/>
                          </a:solidFill>
                          <a:latin typeface="Calibri"/>
                        </a:rPr>
                        <a:t>0.179 ± 0.021</a:t>
                      </a:r>
                    </a:p>
                  </a:txBody>
                  <a:tcPr anchor="ctr">
                    <a:solidFill>
                      <a:srgbClr val="EAF2F7"/>
                    </a:solidFill>
                  </a:tcPr>
                </a:tc>
                <a:tc>
                  <a:txBody>
                    <a:bodyPr lIns="73152" rIns="73152" tIns="18288" bIns="18288"/>
                    <a:lstStyle/>
                    <a:p>
                      <a:r>
                        <a:rPr sz="1200" b="0">
                          <a:solidFill>
                            <a:srgbClr val="1F2A33"/>
                          </a:solidFill>
                          <a:latin typeface="Calibri"/>
                        </a:rPr>
                        <a:t>0.270 ± 0.024</a:t>
                      </a:r>
                    </a:p>
                  </a:txBody>
                  <a:tcPr anchor="ctr">
                    <a:solidFill>
                      <a:srgbClr val="EAF2F7"/>
                    </a:solidFill>
                  </a:tcPr>
                </a:tc>
                <a:tc>
                  <a:txBody>
                    <a:bodyPr lIns="73152" rIns="73152" tIns="18288" bIns="18288"/>
                    <a:lstStyle/>
                    <a:p>
                      <a:r>
                        <a:rPr sz="1200" b="0">
                          <a:solidFill>
                            <a:srgbClr val="1F2A33"/>
                          </a:solidFill>
                          <a:latin typeface="Calibri"/>
                        </a:rPr>
                        <a:t>0.337 ± 0.030</a:t>
                      </a:r>
                    </a:p>
                  </a:txBody>
                  <a:tcPr anchor="ctr">
                    <a:solidFill>
                      <a:srgbClr val="EAF2F7"/>
                    </a:solidFill>
                  </a:tcPr>
                </a:tc>
                <a:tc>
                  <a:txBody>
                    <a:bodyPr lIns="73152" rIns="73152" tIns="18288" bIns="18288"/>
                    <a:lstStyle/>
                    <a:p>
                      <a:r>
                        <a:rPr sz="1200" b="0">
                          <a:solidFill>
                            <a:srgbClr val="1F2A33"/>
                          </a:solidFill>
                          <a:latin typeface="Calibri"/>
                        </a:rPr>
                        <a:t>0.511 ± 0.048</a:t>
                      </a:r>
                    </a:p>
                  </a:txBody>
                  <a:tcPr anchor="ctr">
                    <a:solidFill>
                      <a:srgbClr val="EAF2F7"/>
                    </a:solidFill>
                  </a:tcPr>
                </a:tc>
              </a:tr>
              <a:tr h="374903">
                <a:tc>
                  <a:txBody>
                    <a:bodyPr lIns="73152" rIns="73152" tIns="18288" bIns="18288"/>
                    <a:lstStyle/>
                    <a:p>
                      <a:r>
                        <a:rPr sz="1200" b="0">
                          <a:solidFill>
                            <a:srgbClr val="1F2A33"/>
                          </a:solidFill>
                          <a:latin typeface="Calibri"/>
                        </a:rPr>
                        <a:t>hybrid (RRF)</a:t>
                      </a:r>
                    </a:p>
                  </a:txBody>
                  <a:tcPr anchor="ctr">
                    <a:solidFill>
                      <a:srgbClr val="FFFFFF"/>
                    </a:solidFill>
                  </a:tcPr>
                </a:tc>
                <a:tc>
                  <a:txBody>
                    <a:bodyPr lIns="73152" rIns="73152" tIns="18288" bIns="18288"/>
                    <a:lstStyle/>
                    <a:p>
                      <a:r>
                        <a:rPr sz="1200" b="0">
                          <a:solidFill>
                            <a:srgbClr val="1F2A33"/>
                          </a:solidFill>
                          <a:latin typeface="Calibri"/>
                        </a:rPr>
                        <a:t>0.129 ± 0.010</a:t>
                      </a:r>
                    </a:p>
                  </a:txBody>
                  <a:tcPr anchor="ctr">
                    <a:solidFill>
                      <a:srgbClr val="FFFFFF"/>
                    </a:solidFill>
                  </a:tcPr>
                </a:tc>
                <a:tc>
                  <a:txBody>
                    <a:bodyPr lIns="73152" rIns="73152" tIns="18288" bIns="18288"/>
                    <a:lstStyle/>
                    <a:p>
                      <a:r>
                        <a:rPr sz="1200" b="0">
                          <a:solidFill>
                            <a:srgbClr val="1F2A33"/>
                          </a:solidFill>
                          <a:latin typeface="Calibri"/>
                        </a:rPr>
                        <a:t>0.240 ± 0.013</a:t>
                      </a:r>
                    </a:p>
                  </a:txBody>
                  <a:tcPr anchor="ctr">
                    <a:solidFill>
                      <a:srgbClr val="FFFFFF"/>
                    </a:solidFill>
                  </a:tcPr>
                </a:tc>
                <a:tc>
                  <a:txBody>
                    <a:bodyPr lIns="73152" rIns="73152" tIns="18288" bIns="18288"/>
                    <a:lstStyle/>
                    <a:p>
                      <a:r>
                        <a:rPr sz="1200" b="0">
                          <a:solidFill>
                            <a:srgbClr val="1F2A33"/>
                          </a:solidFill>
                          <a:latin typeface="Calibri"/>
                        </a:rPr>
                        <a:t>0.301 ± 0.017</a:t>
                      </a:r>
                    </a:p>
                  </a:txBody>
                  <a:tcPr anchor="ctr">
                    <a:solidFill>
                      <a:srgbClr val="FFFFFF"/>
                    </a:solidFill>
                  </a:tcPr>
                </a:tc>
                <a:tc>
                  <a:txBody>
                    <a:bodyPr lIns="73152" rIns="73152" tIns="18288" bIns="18288"/>
                    <a:lstStyle/>
                    <a:p>
                      <a:r>
                        <a:rPr sz="1200" b="0">
                          <a:solidFill>
                            <a:srgbClr val="1F2A33"/>
                          </a:solidFill>
                          <a:latin typeface="Calibri"/>
                        </a:rPr>
                        <a:t>0.482 ± 0.034</a:t>
                      </a:r>
                    </a:p>
                  </a:txBody>
                  <a:tcPr anchor="ctr">
                    <a:solidFill>
                      <a:srgbClr val="FFFFFF"/>
                    </a:solidFill>
                  </a:tcPr>
                </a:tc>
              </a:tr>
              <a:tr h="374907">
                <a:tc>
                  <a:txBody>
                    <a:bodyPr lIns="73152" rIns="73152" tIns="18288" bIns="18288"/>
                    <a:lstStyle/>
                    <a:p>
                      <a:r>
                        <a:rPr sz="1200" b="0">
                          <a:solidFill>
                            <a:srgbClr val="1F2A33"/>
                          </a:solidFill>
                          <a:latin typeface="Calibri"/>
                        </a:rPr>
                        <a:t>hybrid + rerank</a:t>
                      </a:r>
                    </a:p>
                  </a:txBody>
                  <a:tcPr anchor="ctr">
                    <a:solidFill>
                      <a:srgbClr val="EAF2F7"/>
                    </a:solidFill>
                  </a:tcPr>
                </a:tc>
                <a:tc>
                  <a:txBody>
                    <a:bodyPr lIns="73152" rIns="73152" tIns="18288" bIns="18288"/>
                    <a:lstStyle/>
                    <a:p>
                      <a:r>
                        <a:rPr sz="1200" b="0">
                          <a:solidFill>
                            <a:srgbClr val="1F2A33"/>
                          </a:solidFill>
                          <a:latin typeface="Calibri"/>
                        </a:rPr>
                        <a:t>0.086</a:t>
                      </a:r>
                    </a:p>
                  </a:txBody>
                  <a:tcPr anchor="ctr">
                    <a:solidFill>
                      <a:srgbClr val="EAF2F7"/>
                    </a:solidFill>
                  </a:tcPr>
                </a:tc>
                <a:tc>
                  <a:txBody>
                    <a:bodyPr lIns="73152" rIns="73152" tIns="18288" bIns="18288"/>
                    <a:lstStyle/>
                    <a:p>
                      <a:r>
                        <a:rPr sz="1200" b="0">
                          <a:solidFill>
                            <a:srgbClr val="1F2A33"/>
                          </a:solidFill>
                          <a:latin typeface="Calibri"/>
                        </a:rPr>
                        <a:t>0.102</a:t>
                      </a:r>
                    </a:p>
                  </a:txBody>
                  <a:tcPr anchor="ctr">
                    <a:solidFill>
                      <a:srgbClr val="EAF2F7"/>
                    </a:solidFill>
                  </a:tcPr>
                </a:tc>
                <a:tc>
                  <a:txBody>
                    <a:bodyPr lIns="73152" rIns="73152" tIns="18288" bIns="18288"/>
                    <a:lstStyle/>
                    <a:p>
                      <a:r>
                        <a:rPr sz="1200" b="0">
                          <a:solidFill>
                            <a:srgbClr val="1F2A33"/>
                          </a:solidFill>
                          <a:latin typeface="Calibri"/>
                        </a:rPr>
                        <a:t>0.117</a:t>
                      </a:r>
                    </a:p>
                  </a:txBody>
                  <a:tcPr anchor="ctr">
                    <a:solidFill>
                      <a:srgbClr val="EAF2F7"/>
                    </a:solidFill>
                  </a:tcPr>
                </a:tc>
                <a:tc>
                  <a:txBody>
                    <a:bodyPr lIns="73152" rIns="73152" tIns="18288" bIns="18288"/>
                    <a:lstStyle/>
                    <a:p>
                      <a:r>
                        <a:rPr sz="1200" b="0">
                          <a:solidFill>
                            <a:srgbClr val="1F2A33"/>
                          </a:solidFill>
                          <a:latin typeface="Calibri"/>
                        </a:rPr>
                        <a:t>0.157</a:t>
                      </a:r>
                    </a:p>
                  </a:txBody>
                  <a:tcPr anchor="ctr">
                    <a:solidFill>
                      <a:srgbClr val="EAF2F7"/>
                    </a:solidFill>
                  </a:tcPr>
                </a:tc>
              </a:tr>
            </a:tbl>
          </a:graphicData>
        </a:graphic>
      </p:graphicFrame>
      <p:graphicFrame>
        <p:nvGraphicFramePr>
          <p:cNvPr id="7" name="Chart 6"/>
          <p:cNvGraphicFramePr>
            <a:graphicFrameLocks noGrp="1"/>
          </p:cNvGraphicFramePr>
          <p:nvPr/>
        </p:nvGraphicFramePr>
        <p:xfrm>
          <a:off x="502920" y="3108960"/>
          <a:ext cx="5212080" cy="2240280"/>
        </p:xfrm>
        <a:graphic>
          <a:graphicData uri="http://schemas.openxmlformats.org/drawingml/2006/chart">
            <c:chart xmlns:c="http://schemas.openxmlformats.org/drawingml/2006/chart" r:id="rId2"/>
          </a:graphicData>
        </a:graphic>
      </p:graphicFrame>
      <p:sp>
        <p:nvSpPr>
          <p:cNvPr id="8" name="TextBox 7"/>
          <p:cNvSpPr txBox="1"/>
          <p:nvPr/>
        </p:nvSpPr>
        <p:spPr>
          <a:xfrm>
            <a:off x="6035040" y="3017520"/>
            <a:ext cx="5669280" cy="274320"/>
          </a:xfrm>
          <a:prstGeom prst="rect">
            <a:avLst/>
          </a:prstGeom>
          <a:noFill/>
        </p:spPr>
        <p:txBody>
          <a:bodyPr wrap="square" anchor="t">
            <a:spAutoFit/>
          </a:bodyPr>
          <a:lstStyle/>
          <a:p>
            <a:pPr algn="l">
              <a:lnSpc>
                <a:spcPct val="100000"/>
              </a:lnSpc>
            </a:pPr>
            <a:r>
              <a:rPr sz="1200" b="1">
                <a:solidFill>
                  <a:srgbClr val="0F3D5C"/>
                </a:solidFill>
                <a:latin typeface="Calibri"/>
              </a:rPr>
              <a:t>Paired test: vector vs hybrid</a:t>
            </a:r>
          </a:p>
        </p:txBody>
      </p:sp>
      <p:sp>
        <p:nvSpPr>
          <p:cNvPr id="9" name="TextBox 8"/>
          <p:cNvSpPr txBox="1"/>
          <p:nvPr/>
        </p:nvSpPr>
        <p:spPr>
          <a:xfrm>
            <a:off x="6035040" y="3273552"/>
            <a:ext cx="5669280" cy="777240"/>
          </a:xfrm>
          <a:prstGeom prst="rect">
            <a:avLst/>
          </a:prstGeom>
          <a:noFill/>
        </p:spPr>
        <p:txBody>
          <a:bodyPr wrap="square" anchor="t">
            <a:spAutoFit/>
          </a:bodyPr>
          <a:lstStyle/>
          <a:p>
            <a:pPr algn="l">
              <a:lnSpc>
                <a:spcPct val="105000"/>
              </a:lnSpc>
            </a:pPr>
            <a:r>
              <a:rPr sz="1080" b="0">
                <a:solidFill>
                  <a:srgbClr val="1F2A33"/>
                </a:solidFill>
                <a:latin typeface="Calibri"/>
              </a:rPr>
              <a:t>Δ nDCG@10 = +0.037
bootstrap 95% CI [-0.015; +0.086], p = 0.154
Not significant: default unchanged, ADR 0009 stays proposed.</a:t>
            </a:r>
          </a:p>
        </p:txBody>
      </p:sp>
      <p:sp>
        <p:nvSpPr>
          <p:cNvPr id="10" name="TextBox 9"/>
          <p:cNvSpPr txBox="1"/>
          <p:nvPr/>
        </p:nvSpPr>
        <p:spPr>
          <a:xfrm>
            <a:off x="6035040" y="4114800"/>
            <a:ext cx="5669280" cy="274320"/>
          </a:xfrm>
          <a:prstGeom prst="rect">
            <a:avLst/>
          </a:prstGeom>
          <a:noFill/>
        </p:spPr>
        <p:txBody>
          <a:bodyPr wrap="square" anchor="t">
            <a:spAutoFit/>
          </a:bodyPr>
          <a:lstStyle/>
          <a:p>
            <a:pPr algn="l">
              <a:lnSpc>
                <a:spcPct val="100000"/>
              </a:lnSpc>
            </a:pPr>
            <a:r>
              <a:rPr sz="1200" b="1">
                <a:solidFill>
                  <a:srgbClr val="0F3D5C"/>
                </a:solidFill>
                <a:latin typeface="Calibri"/>
              </a:rPr>
              <a:t>2×2 ablation (nDCG@10, vector / hybrid)</a:t>
            </a:r>
          </a:p>
        </p:txBody>
      </p:sp>
      <p:graphicFrame>
        <p:nvGraphicFramePr>
          <p:cNvPr id="11" name="Table 10"/>
          <p:cNvGraphicFramePr>
            <a:graphicFrameLocks noGrp="1"/>
          </p:cNvGraphicFramePr>
          <p:nvPr/>
        </p:nvGraphicFramePr>
        <p:xfrm>
          <a:off x="6035040" y="4370832"/>
          <a:ext cx="5650992" cy="1024128"/>
        </p:xfrm>
        <a:graphic>
          <a:graphicData uri="http://schemas.openxmlformats.org/drawingml/2006/table">
            <a:tbl>
              <a:tblPr firstRow="1" bandRow="1">
                <a:tableStyleId>{5C22544A-7EE6-4342-B048-85BDC9FD1C3A}</a:tableStyleId>
              </a:tblPr>
              <a:tblGrid>
                <a:gridCol w="2825496"/>
                <a:gridCol w="1412748"/>
                <a:gridCol w="1412748"/>
              </a:tblGrid>
              <a:tr h="204825">
                <a:tc>
                  <a:txBody>
                    <a:bodyPr lIns="73152" rIns="73152" tIns="18288" bIns="18288"/>
                    <a:lstStyle/>
                    <a:p>
                      <a:r>
                        <a:rPr sz="960" b="1">
                          <a:solidFill>
                            <a:srgbClr val="FFFFFF"/>
                          </a:solidFill>
                          <a:latin typeface="Calibri"/>
                        </a:rPr>
                        <a:t>2×2 nDCG@10</a:t>
                      </a:r>
                    </a:p>
                  </a:txBody>
                  <a:tcPr anchor="ctr">
                    <a:solidFill>
                      <a:srgbClr val="0F3D5C"/>
                    </a:solidFill>
                  </a:tcPr>
                </a:tc>
                <a:tc>
                  <a:txBody>
                    <a:bodyPr lIns="73152" rIns="73152" tIns="18288" bIns="18288"/>
                    <a:lstStyle/>
                    <a:p>
                      <a:r>
                        <a:rPr sz="960" b="1">
                          <a:solidFill>
                            <a:srgbClr val="FFFFFF"/>
                          </a:solidFill>
                          <a:latin typeface="Calibri"/>
                        </a:rPr>
                        <a:t>vector</a:t>
                      </a:r>
                    </a:p>
                  </a:txBody>
                  <a:tcPr anchor="ctr">
                    <a:solidFill>
                      <a:srgbClr val="0F3D5C"/>
                    </a:solidFill>
                  </a:tcPr>
                </a:tc>
                <a:tc>
                  <a:txBody>
                    <a:bodyPr lIns="73152" rIns="73152" tIns="18288" bIns="18288"/>
                    <a:lstStyle/>
                    <a:p>
                      <a:r>
                        <a:rPr sz="960" b="1">
                          <a:solidFill>
                            <a:srgbClr val="FFFFFF"/>
                          </a:solidFill>
                          <a:latin typeface="Calibri"/>
                        </a:rPr>
                        <a:t>hybrid</a:t>
                      </a:r>
                    </a:p>
                  </a:txBody>
                  <a:tcPr anchor="ctr">
                    <a:solidFill>
                      <a:srgbClr val="0F3D5C"/>
                    </a:solidFill>
                  </a:tcPr>
                </a:tc>
              </a:tr>
              <a:tr h="204825">
                <a:tc>
                  <a:txBody>
                    <a:bodyPr lIns="73152" rIns="73152" tIns="18288" bIns="18288"/>
                    <a:lstStyle/>
                    <a:p>
                      <a:r>
                        <a:rPr sz="960" b="0">
                          <a:solidFill>
                            <a:srgbClr val="1F2A33"/>
                          </a:solidFill>
                          <a:latin typeface="Calibri"/>
                        </a:rPr>
                        <a:t>old export · symbolic</a:t>
                      </a:r>
                    </a:p>
                  </a:txBody>
                  <a:tcPr anchor="ctr">
                    <a:solidFill>
                      <a:srgbClr val="FFFFFF"/>
                    </a:solidFill>
                  </a:tcPr>
                </a:tc>
                <a:tc>
                  <a:txBody>
                    <a:bodyPr lIns="73152" rIns="73152" tIns="18288" bIns="18288"/>
                    <a:lstStyle/>
                    <a:p>
                      <a:r>
                        <a:rPr sz="960" b="0">
                          <a:solidFill>
                            <a:srgbClr val="1F2A33"/>
                          </a:solidFill>
                          <a:latin typeface="Calibri"/>
                        </a:rPr>
                        <a:t>0.176</a:t>
                      </a:r>
                    </a:p>
                  </a:txBody>
                  <a:tcPr anchor="ctr">
                    <a:solidFill>
                      <a:srgbClr val="FFFFFF"/>
                    </a:solidFill>
                  </a:tcPr>
                </a:tc>
                <a:tc>
                  <a:txBody>
                    <a:bodyPr lIns="73152" rIns="73152" tIns="18288" bIns="18288"/>
                    <a:lstStyle/>
                    <a:p>
                      <a:r>
                        <a:rPr sz="960" b="0">
                          <a:solidFill>
                            <a:srgbClr val="1F2A33"/>
                          </a:solidFill>
                          <a:latin typeface="Calibri"/>
                        </a:rPr>
                        <a:t>0.209</a:t>
                      </a:r>
                    </a:p>
                  </a:txBody>
                  <a:tcPr anchor="ctr">
                    <a:solidFill>
                      <a:srgbClr val="FFFFFF"/>
                    </a:solidFill>
                  </a:tcPr>
                </a:tc>
              </a:tr>
              <a:tr h="204825">
                <a:tc>
                  <a:txBody>
                    <a:bodyPr lIns="73152" rIns="73152" tIns="18288" bIns="18288"/>
                    <a:lstStyle/>
                    <a:p>
                      <a:r>
                        <a:rPr sz="960" b="0">
                          <a:solidFill>
                            <a:srgbClr val="1F2A33"/>
                          </a:solidFill>
                          <a:latin typeface="Calibri"/>
                        </a:rPr>
                        <a:t>old export · procedural</a:t>
                      </a:r>
                    </a:p>
                  </a:txBody>
                  <a:tcPr anchor="ctr">
                    <a:solidFill>
                      <a:srgbClr val="EAF2F7"/>
                    </a:solidFill>
                  </a:tcPr>
                </a:tc>
                <a:tc>
                  <a:txBody>
                    <a:bodyPr lIns="73152" rIns="73152" tIns="18288" bIns="18288"/>
                    <a:lstStyle/>
                    <a:p>
                      <a:r>
                        <a:rPr sz="960" b="0">
                          <a:solidFill>
                            <a:srgbClr val="1F2A33"/>
                          </a:solidFill>
                          <a:latin typeface="Calibri"/>
                        </a:rPr>
                        <a:t>—</a:t>
                      </a:r>
                    </a:p>
                  </a:txBody>
                  <a:tcPr anchor="ctr">
                    <a:solidFill>
                      <a:srgbClr val="EAF2F7"/>
                    </a:solidFill>
                  </a:tcPr>
                </a:tc>
                <a:tc>
                  <a:txBody>
                    <a:bodyPr lIns="73152" rIns="73152" tIns="18288" bIns="18288"/>
                    <a:lstStyle/>
                    <a:p>
                      <a:r>
                        <a:rPr sz="960" b="0">
                          <a:solidFill>
                            <a:srgbClr val="1F2A33"/>
                          </a:solidFill>
                          <a:latin typeface="Calibri"/>
                        </a:rPr>
                        <a:t>—</a:t>
                      </a:r>
                    </a:p>
                  </a:txBody>
                  <a:tcPr anchor="ctr">
                    <a:solidFill>
                      <a:srgbClr val="EAF2F7"/>
                    </a:solidFill>
                  </a:tcPr>
                </a:tc>
              </a:tr>
              <a:tr h="204825">
                <a:tc>
                  <a:txBody>
                    <a:bodyPr lIns="73152" rIns="73152" tIns="18288" bIns="18288"/>
                    <a:lstStyle/>
                    <a:p>
                      <a:r>
                        <a:rPr sz="960" b="0">
                          <a:solidFill>
                            <a:srgbClr val="1F2A33"/>
                          </a:solidFill>
                          <a:latin typeface="Calibri"/>
                        </a:rPr>
                        <a:t>current export · symbolic</a:t>
                      </a:r>
                    </a:p>
                  </a:txBody>
                  <a:tcPr anchor="ctr">
                    <a:solidFill>
                      <a:srgbClr val="FFFFFF"/>
                    </a:solidFill>
                  </a:tcPr>
                </a:tc>
                <a:tc>
                  <a:txBody>
                    <a:bodyPr lIns="73152" rIns="73152" tIns="18288" bIns="18288"/>
                    <a:lstStyle/>
                    <a:p>
                      <a:r>
                        <a:rPr sz="960" b="0">
                          <a:solidFill>
                            <a:srgbClr val="1F2A33"/>
                          </a:solidFill>
                          <a:latin typeface="Calibri"/>
                        </a:rPr>
                        <a:t>0.165 ± 0.013</a:t>
                      </a:r>
                    </a:p>
                  </a:txBody>
                  <a:tcPr anchor="ctr">
                    <a:solidFill>
                      <a:srgbClr val="FFFFFF"/>
                    </a:solidFill>
                  </a:tcPr>
                </a:tc>
                <a:tc>
                  <a:txBody>
                    <a:bodyPr lIns="73152" rIns="73152" tIns="18288" bIns="18288"/>
                    <a:lstStyle/>
                    <a:p>
                      <a:r>
                        <a:rPr sz="960" b="0">
                          <a:solidFill>
                            <a:srgbClr val="1F2A33"/>
                          </a:solidFill>
                          <a:latin typeface="Calibri"/>
                        </a:rPr>
                        <a:t>0.205 ± 0.007</a:t>
                      </a:r>
                    </a:p>
                  </a:txBody>
                  <a:tcPr anchor="ctr">
                    <a:solidFill>
                      <a:srgbClr val="FFFFFF"/>
                    </a:solidFill>
                  </a:tcPr>
                </a:tc>
              </a:tr>
              <a:tr h="204828">
                <a:tc>
                  <a:txBody>
                    <a:bodyPr lIns="73152" rIns="73152" tIns="18288" bIns="18288"/>
                    <a:lstStyle/>
                    <a:p>
                      <a:r>
                        <a:rPr sz="960" b="0">
                          <a:solidFill>
                            <a:srgbClr val="1F2A33"/>
                          </a:solidFill>
                          <a:latin typeface="Calibri"/>
                        </a:rPr>
                        <a:t>current export · procedural</a:t>
                      </a:r>
                    </a:p>
                  </a:txBody>
                  <a:tcPr anchor="ctr">
                    <a:solidFill>
                      <a:srgbClr val="EAF2F7"/>
                    </a:solidFill>
                  </a:tcPr>
                </a:tc>
                <a:tc>
                  <a:txBody>
                    <a:bodyPr lIns="73152" rIns="73152" tIns="18288" bIns="18288"/>
                    <a:lstStyle/>
                    <a:p>
                      <a:r>
                        <a:rPr sz="960" b="0">
                          <a:solidFill>
                            <a:srgbClr val="1F2A33"/>
                          </a:solidFill>
                          <a:latin typeface="Calibri"/>
                        </a:rPr>
                        <a:t>0.339 ± 0.023</a:t>
                      </a:r>
                    </a:p>
                  </a:txBody>
                  <a:tcPr anchor="ctr">
                    <a:solidFill>
                      <a:srgbClr val="EAF2F7"/>
                    </a:solidFill>
                  </a:tcPr>
                </a:tc>
                <a:tc>
                  <a:txBody>
                    <a:bodyPr lIns="73152" rIns="73152" tIns="18288" bIns="18288"/>
                    <a:lstStyle/>
                    <a:p>
                      <a:r>
                        <a:rPr sz="960" b="0">
                          <a:solidFill>
                            <a:srgbClr val="1F2A33"/>
                          </a:solidFill>
                          <a:latin typeface="Calibri"/>
                        </a:rPr>
                        <a:t>0.301 ± 0.017</a:t>
                      </a:r>
                    </a:p>
                  </a:txBody>
                  <a:tcPr anchor="ctr">
                    <a:solidFill>
                      <a:srgbClr val="EAF2F7"/>
                    </a:solidFill>
                  </a:tcPr>
                </a:tc>
              </a:tr>
            </a:tbl>
          </a:graphicData>
        </a:graphic>
      </p:graphicFrame>
      <p:sp>
        <p:nvSpPr>
          <p:cNvPr id="12" name="TextBox 11"/>
          <p:cNvSpPr txBox="1"/>
          <p:nvPr/>
        </p:nvSpPr>
        <p:spPr>
          <a:xfrm>
            <a:off x="6035040" y="5504688"/>
            <a:ext cx="5650992" cy="685800"/>
          </a:xfrm>
          <a:prstGeom prst="rect">
            <a:avLst/>
          </a:prstGeom>
          <a:noFill/>
        </p:spPr>
        <p:txBody>
          <a:bodyPr wrap="square" anchor="t">
            <a:spAutoFit/>
          </a:bodyPr>
          <a:lstStyle/>
          <a:p>
            <a:pPr algn="l">
              <a:lnSpc>
                <a:spcPct val="105000"/>
              </a:lnSpc>
            </a:pPr>
            <a:r>
              <a:rPr sz="969" b="0">
                <a:solidFill>
                  <a:srgbClr val="1F2A33"/>
                </a:solidFill>
                <a:latin typeface="Calibri"/>
              </a:rPr>
              <a:t>Chunking explains the flip: hybrid leads under symbolic chunking, vector leads under procedural. Export effect at symbolic chunking: −0.012 / −0.004, inside run noise.</a:t>
            </a:r>
          </a:p>
        </p:txBody>
      </p:sp>
      <p:sp>
        <p:nvSpPr>
          <p:cNvPr id="13" name="TextBox 12"/>
          <p:cNvSpPr txBox="1"/>
          <p:nvPr/>
        </p:nvSpPr>
        <p:spPr>
          <a:xfrm>
            <a:off x="6035040" y="5943600"/>
            <a:ext cx="5650992" cy="274320"/>
          </a:xfrm>
          <a:prstGeom prst="rect">
            <a:avLst/>
          </a:prstGeom>
          <a:noFill/>
        </p:spPr>
        <p:txBody>
          <a:bodyPr wrap="square" anchor="t">
            <a:spAutoFit/>
          </a:bodyPr>
          <a:lstStyle/>
          <a:p>
            <a:pPr algn="l">
              <a:lnSpc>
                <a:spcPct val="100000"/>
              </a:lnSpc>
            </a:pPr>
            <a:r>
              <a:rPr sz="940" b="0">
                <a:solidFill>
                  <a:srgbClr val="5B6770"/>
                </a:solidFill>
                <a:latin typeface="Calibri"/>
              </a:rPr>
              <a:t>Interaction cell missing (old dump gone); additivity assumed.</a:t>
            </a:r>
          </a:p>
        </p:txBody>
      </p:sp>
      <p:sp>
        <p:nvSpPr>
          <p:cNvPr id="14" name="TextBox 13"/>
          <p:cNvSpPr txBox="1"/>
          <p:nvPr/>
        </p:nvSpPr>
        <p:spPr>
          <a:xfrm>
            <a:off x="502920" y="5440680"/>
            <a:ext cx="5303520" cy="320040"/>
          </a:xfrm>
          <a:prstGeom prst="rect">
            <a:avLst/>
          </a:prstGeom>
          <a:noFill/>
        </p:spPr>
        <p:txBody>
          <a:bodyPr wrap="square" anchor="t">
            <a:spAutoFit/>
          </a:bodyPr>
          <a:lstStyle/>
          <a:p>
            <a:pPr algn="l">
              <a:lnSpc>
                <a:spcPct val="100000"/>
              </a:lnSpc>
            </a:pPr>
            <a:r>
              <a:rPr sz="1000" b="0">
                <a:solidFill>
                  <a:srgbClr val="5B6770"/>
                </a:solidFill>
                <a:latin typeface="Calibri"/>
              </a:rPr>
              <a:t>All CPU modes: 40-60 ms per query. Cross-encoder rerank: ~2.4 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Decisions and limitations</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11</a:t>
            </a:r>
          </a:p>
        </p:txBody>
      </p:sp>
      <p:sp>
        <p:nvSpPr>
          <p:cNvPr id="6" name="TextBox 5"/>
          <p:cNvSpPr txBox="1"/>
          <p:nvPr/>
        </p:nvSpPr>
        <p:spPr>
          <a:xfrm>
            <a:off x="502920" y="1051560"/>
            <a:ext cx="5669280" cy="457200"/>
          </a:xfrm>
          <a:prstGeom prst="rect">
            <a:avLst/>
          </a:prstGeom>
          <a:noFill/>
        </p:spPr>
        <p:txBody>
          <a:bodyPr wrap="square" anchor="t">
            <a:spAutoFit/>
          </a:bodyPr>
          <a:lstStyle/>
          <a:p>
            <a:pPr algn="l">
              <a:lnSpc>
                <a:spcPct val="100000"/>
              </a:lnSpc>
            </a:pPr>
            <a:r>
              <a:rPr sz="1800" b="1">
                <a:solidFill>
                  <a:srgbClr val="0F3D5C"/>
                </a:solidFill>
                <a:latin typeface="Calibri"/>
              </a:rPr>
              <a:t>Decision log (ADR)</a:t>
            </a:r>
          </a:p>
        </p:txBody>
      </p:sp>
      <p:sp>
        <p:nvSpPr>
          <p:cNvPr id="7" name="TextBox 6"/>
          <p:cNvSpPr txBox="1"/>
          <p:nvPr/>
        </p:nvSpPr>
        <p:spPr>
          <a:xfrm>
            <a:off x="502920" y="1481328"/>
            <a:ext cx="5577840" cy="3566160"/>
          </a:xfrm>
          <a:prstGeom prst="rect">
            <a:avLst/>
          </a:prstGeom>
          <a:noFill/>
        </p:spPr>
        <p:txBody>
          <a:bodyPr wrap="square" anchor="t">
            <a:spAutoFit/>
          </a:bodyPr>
          <a:lstStyle/>
          <a:p>
            <a:pPr algn="l">
              <a:lnSpc>
                <a:spcPct val="100000"/>
              </a:lnSpc>
            </a:pPr>
            <a:r>
              <a:rPr sz="1400" b="0">
                <a:solidFill>
                  <a:srgbClr val="1F2A33"/>
                </a:solidFill>
                <a:latin typeface="Calibri"/>
              </a:rPr>
              <a:t/>
            </a:r>
          </a:p>
          <a:p>
            <a:pPr marL="240000" indent="-240000">
              <a:lnSpc>
                <a:spcPct val="100000"/>
              </a:lnSpc>
              <a:spcBef>
                <a:spcPts val="500"/>
              </a:spcBef>
              <a:spcAft>
                <a:spcPts val="300"/>
              </a:spcAft>
            </a:pPr>
            <a:r>
              <a:rPr sz="1400" b="0">
                <a:solidFill>
                  <a:srgbClr val="1F2A33"/>
                </a:solidFill>
                <a:latin typeface="Calibri"/>
              </a:rPr>
              <a:t>•  0001: RRF over weighted Pearson - better ranking, no weight calibration</a:t>
            </a:r>
          </a:p>
          <a:p>
            <a:pPr marL="240000" indent="-240000">
              <a:lnSpc>
                <a:spcPct val="100000"/>
              </a:lnSpc>
              <a:spcBef>
                <a:spcPts val="500"/>
              </a:spcBef>
              <a:spcAft>
                <a:spcPts val="300"/>
              </a:spcAft>
            </a:pPr>
            <a:r>
              <a:rPr sz="1400" b="0">
                <a:solidFill>
                  <a:srgbClr val="1F2A33"/>
                </a:solidFill>
                <a:latin typeface="Calibri"/>
              </a:rPr>
              <a:t>•  0002: reranker stays optional - it hurts quality on BSL</a:t>
            </a:r>
          </a:p>
          <a:p>
            <a:pPr marL="240000" indent="-240000">
              <a:lnSpc>
                <a:spcPct val="100000"/>
              </a:lnSpc>
              <a:spcBef>
                <a:spcPts val="500"/>
              </a:spcBef>
              <a:spcAft>
                <a:spcPts val="300"/>
              </a:spcAft>
            </a:pPr>
            <a:r>
              <a:rPr sz="1400" b="0">
                <a:solidFill>
                  <a:srgbClr val="1F2A33"/>
                </a:solidFill>
                <a:latin typeface="Calibri"/>
              </a:rPr>
              <a:t>•  0003: file-level relevance - stable, reproducible metrics</a:t>
            </a:r>
          </a:p>
          <a:p>
            <a:pPr marL="240000" indent="-240000">
              <a:lnSpc>
                <a:spcPct val="100000"/>
              </a:lnSpc>
              <a:spcBef>
                <a:spcPts val="500"/>
              </a:spcBef>
              <a:spcAft>
                <a:spcPts val="300"/>
              </a:spcAft>
            </a:pPr>
            <a:r>
              <a:rPr sz="1400" b="0">
                <a:solidFill>
                  <a:srgbClr val="1F2A33"/>
                </a:solidFill>
                <a:latin typeface="Calibri"/>
              </a:rPr>
              <a:t>•  0004: deduplicated metrics - one file counted once</a:t>
            </a:r>
          </a:p>
          <a:p>
            <a:pPr marL="240000" indent="-240000">
              <a:lnSpc>
                <a:spcPct val="100000"/>
              </a:lnSpc>
              <a:spcBef>
                <a:spcPts val="500"/>
              </a:spcBef>
              <a:spcAft>
                <a:spcPts val="300"/>
              </a:spcAft>
            </a:pPr>
            <a:r>
              <a:rPr sz="1400" b="0">
                <a:solidFill>
                  <a:srgbClr val="1F2A33"/>
                </a:solidFill>
                <a:latin typeface="Calibri"/>
              </a:rPr>
              <a:t>•  0005: gold-set v2 - natural-language queries, not identifier templates</a:t>
            </a:r>
          </a:p>
          <a:p>
            <a:pPr marL="240000" indent="-240000">
              <a:lnSpc>
                <a:spcPct val="100000"/>
              </a:lnSpc>
              <a:spcBef>
                <a:spcPts val="500"/>
              </a:spcBef>
              <a:spcAft>
                <a:spcPts val="300"/>
              </a:spcAft>
            </a:pPr>
            <a:r>
              <a:rPr sz="1400" b="0">
                <a:solidFill>
                  <a:srgbClr val="1F2A33"/>
                </a:solidFill>
                <a:latin typeface="Calibri"/>
              </a:rPr>
              <a:t>•  0006: routing as tested code - tool choice is explainable</a:t>
            </a:r>
          </a:p>
          <a:p>
            <a:pPr marL="240000" indent="-240000">
              <a:lnSpc>
                <a:spcPct val="100000"/>
              </a:lnSpc>
              <a:spcBef>
                <a:spcPts val="500"/>
              </a:spcBef>
              <a:spcAft>
                <a:spcPts val="300"/>
              </a:spcAft>
            </a:pPr>
            <a:r>
              <a:rPr sz="1400" b="0">
                <a:solidFill>
                  <a:srgbClr val="1F2A33"/>
                </a:solidFill>
                <a:latin typeface="Calibri"/>
              </a:rPr>
              <a:t>•  0007: procedure chunking - the 512-token overflow is gone</a:t>
            </a:r>
          </a:p>
          <a:p>
            <a:pPr marL="240000" indent="-240000">
              <a:lnSpc>
                <a:spcPct val="100000"/>
              </a:lnSpc>
              <a:spcBef>
                <a:spcPts val="500"/>
              </a:spcBef>
              <a:spcAft>
                <a:spcPts val="300"/>
              </a:spcAft>
            </a:pPr>
            <a:r>
              <a:rPr sz="1400" b="0">
                <a:solidFill>
                  <a:srgbClr val="1F2A33"/>
                </a:solidFill>
                <a:latin typeface="Calibri"/>
              </a:rPr>
              <a:t>•  0008: XML metadata - BM25 Hit@3 93.0% → 99.7%</a:t>
            </a:r>
          </a:p>
          <a:p>
            <a:pPr marL="240000" indent="-240000">
              <a:lnSpc>
                <a:spcPct val="100000"/>
              </a:lnSpc>
              <a:spcBef>
                <a:spcPts val="500"/>
              </a:spcBef>
              <a:spcAft>
                <a:spcPts val="300"/>
              </a:spcAft>
            </a:pPr>
            <a:r>
              <a:rPr sz="1400" b="0">
                <a:solidFill>
                  <a:srgbClr val="1F2A33"/>
                </a:solidFill>
                <a:latin typeface="Calibri"/>
              </a:rPr>
              <a:t>•  0009: corpus change - leader moved from hybrid to vector (proposed)</a:t>
            </a:r>
          </a:p>
        </p:txBody>
      </p:sp>
      <p:sp>
        <p:nvSpPr>
          <p:cNvPr id="8" name="Rectangle 7"/>
          <p:cNvSpPr/>
          <p:nvPr/>
        </p:nvSpPr>
        <p:spPr>
          <a:xfrm>
            <a:off x="6172200" y="1188720"/>
            <a:ext cx="9525" cy="4389120"/>
          </a:xfrm>
          <a:prstGeom prst="rect">
            <a:avLst/>
          </a:prstGeom>
          <a:solidFill>
            <a:srgbClr val="D3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051560"/>
            <a:ext cx="4937760" cy="457200"/>
          </a:xfrm>
          <a:prstGeom prst="rect">
            <a:avLst/>
          </a:prstGeom>
          <a:noFill/>
        </p:spPr>
        <p:txBody>
          <a:bodyPr wrap="square" anchor="t">
            <a:spAutoFit/>
          </a:bodyPr>
          <a:lstStyle/>
          <a:p>
            <a:pPr algn="l">
              <a:lnSpc>
                <a:spcPct val="100000"/>
              </a:lnSpc>
            </a:pPr>
            <a:r>
              <a:rPr sz="1800" b="1">
                <a:solidFill>
                  <a:srgbClr val="0F3D5C"/>
                </a:solidFill>
                <a:latin typeface="Calibri"/>
              </a:rPr>
              <a:t>Limitations</a:t>
            </a:r>
          </a:p>
        </p:txBody>
      </p:sp>
      <p:sp>
        <p:nvSpPr>
          <p:cNvPr id="10" name="TextBox 9"/>
          <p:cNvSpPr txBox="1"/>
          <p:nvPr/>
        </p:nvSpPr>
        <p:spPr>
          <a:xfrm>
            <a:off x="6446520" y="1481328"/>
            <a:ext cx="4937760" cy="3566160"/>
          </a:xfrm>
          <a:prstGeom prst="rect">
            <a:avLst/>
          </a:prstGeom>
          <a:noFill/>
        </p:spPr>
        <p:txBody>
          <a:bodyPr wrap="square" anchor="t">
            <a:spAutoFit/>
          </a:bodyPr>
          <a:lstStyle/>
          <a:p>
            <a:pPr algn="l">
              <a:lnSpc>
                <a:spcPct val="100000"/>
              </a:lnSpc>
            </a:pPr>
            <a:r>
              <a:rPr sz="1400" b="0">
                <a:solidFill>
                  <a:srgbClr val="1F2A33"/>
                </a:solidFill>
                <a:latin typeface="Calibri"/>
              </a:rPr>
              <a:t/>
            </a:r>
          </a:p>
          <a:p>
            <a:pPr marL="240000" indent="-240000">
              <a:lnSpc>
                <a:spcPct val="100000"/>
              </a:lnSpc>
              <a:spcBef>
                <a:spcPts val="500"/>
              </a:spcBef>
              <a:spcAft>
                <a:spcPts val="300"/>
              </a:spcAft>
            </a:pPr>
            <a:r>
              <a:rPr sz="1400" b="0">
                <a:solidFill>
                  <a:srgbClr val="1F2A33"/>
                </a:solidFill>
                <a:latin typeface="Calibri"/>
              </a:rPr>
              <a:t>•  HNSW is rebuilt on start: ~60-70 s cold start, a workaround for a known Chroma issue</a:t>
            </a:r>
          </a:p>
          <a:p>
            <a:pPr marL="240000" indent="-240000">
              <a:lnSpc>
                <a:spcPct val="100000"/>
              </a:lnSpc>
              <a:spcBef>
                <a:spcPts val="500"/>
              </a:spcBef>
              <a:spcAft>
                <a:spcPts val="300"/>
              </a:spcAft>
            </a:pPr>
            <a:r>
              <a:rPr sz="1400" b="0">
                <a:solidFill>
                  <a:srgbClr val="1F2A33"/>
                </a:solidFill>
                <a:latin typeface="Calibri"/>
              </a:rPr>
              <a:t>•  Gold-set is partly synthetic; absolute metrics are modest</a:t>
            </a:r>
          </a:p>
          <a:p>
            <a:pPr marL="240000" indent="-240000">
              <a:lnSpc>
                <a:spcPct val="100000"/>
              </a:lnSpc>
              <a:spcBef>
                <a:spcPts val="500"/>
              </a:spcBef>
              <a:spcAft>
                <a:spcPts val="300"/>
              </a:spcAft>
            </a:pPr>
            <a:r>
              <a:rPr sz="1400" b="0">
                <a:solidFill>
                  <a:srgbClr val="1F2A33"/>
                </a:solidFill>
                <a:latin typeface="Calibri"/>
              </a:rPr>
              <a:t>•  A single writer; no parallel indexing</a:t>
            </a:r>
          </a:p>
          <a:p>
            <a:pPr marL="240000" indent="-240000">
              <a:lnSpc>
                <a:spcPct val="100000"/>
              </a:lnSpc>
              <a:spcBef>
                <a:spcPts val="500"/>
              </a:spcBef>
              <a:spcAft>
                <a:spcPts val="300"/>
              </a:spcAft>
            </a:pPr>
            <a:r>
              <a:rPr sz="1400" b="0">
                <a:solidFill>
                  <a:srgbClr val="1F2A33"/>
                </a:solidFill>
                <a:latin typeface="Calibri"/>
              </a:rPr>
              <a:t>•  No incremental indexing: a full rebuild takes hours</a:t>
            </a:r>
          </a:p>
          <a:p>
            <a:pPr marL="240000" indent="-240000">
              <a:lnSpc>
                <a:spcPct val="100000"/>
              </a:lnSpc>
              <a:spcBef>
                <a:spcPts val="500"/>
              </a:spcBef>
              <a:spcAft>
                <a:spcPts val="300"/>
              </a:spcAft>
            </a:pPr>
            <a:r>
              <a:rPr sz="1400" b="0">
                <a:solidFill>
                  <a:srgbClr val="1F2A33"/>
                </a:solidFill>
                <a:latin typeface="Calibri"/>
              </a:rPr>
              <a:t>•  The routing gain is within noise; a new hold-out set is needed</a:t>
            </a:r>
          </a:p>
        </p:txBody>
      </p:sp>
      <p:sp>
        <p:nvSpPr>
          <p:cNvPr id="11" name="Rounded Rectangle 10"/>
          <p:cNvSpPr/>
          <p:nvPr/>
        </p:nvSpPr>
        <p:spPr>
          <a:xfrm>
            <a:off x="502920" y="4892040"/>
            <a:ext cx="11185855" cy="777240"/>
          </a:xfrm>
          <a:prstGeom prst="roundRect">
            <a:avLst/>
          </a:prstGeom>
          <a:solidFill>
            <a:srgbClr val="EAF2F7"/>
          </a:solidFill>
          <a:ln>
            <a:solidFill>
              <a:srgbClr val="D3E2E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bIns="54864"/>
          <a:lstStyle/>
          <a:p>
            <a:pPr algn="l"/>
            <a:r>
              <a:rPr sz="1300">
                <a:solidFill>
                  <a:srgbClr val="1F2A33"/>
                </a:solidFill>
                <a:latin typeface="Calibri"/>
              </a:rPr>
              <a:t>ADR 0009 is deliberately still proposed: the default changes only after an independent sample confirms the shift.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0F3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85855" cy="731520"/>
          </a:xfrm>
          <a:prstGeom prst="rect">
            <a:avLst/>
          </a:prstGeom>
          <a:noFill/>
        </p:spPr>
        <p:txBody>
          <a:bodyPr wrap="square" anchor="t">
            <a:spAutoFit/>
          </a:bodyPr>
          <a:lstStyle/>
          <a:p>
            <a:pPr algn="l">
              <a:lnSpc>
                <a:spcPct val="100000"/>
              </a:lnSpc>
            </a:pPr>
            <a:r>
              <a:rPr sz="2800" b="1">
                <a:solidFill>
                  <a:srgbClr val="0F3D5C"/>
                </a:solidFill>
                <a:latin typeface="Calibri"/>
              </a:rPr>
              <a:t>What is done, and what comes next</a:t>
            </a:r>
          </a:p>
        </p:txBody>
      </p:sp>
      <p:sp>
        <p:nvSpPr>
          <p:cNvPr id="4" name="TextBox 3"/>
          <p:cNvSpPr txBox="1"/>
          <p:nvPr/>
        </p:nvSpPr>
        <p:spPr>
          <a:xfrm>
            <a:off x="502920" y="6400800"/>
            <a:ext cx="8229600" cy="274320"/>
          </a:xfrm>
          <a:prstGeom prst="rect">
            <a:avLst/>
          </a:prstGeom>
          <a:noFill/>
        </p:spPr>
        <p:txBody>
          <a:bodyPr wrap="square" anchor="t">
            <a:spAutoFit/>
          </a:bodyPr>
          <a:lstStyle/>
          <a:p>
            <a:pPr algn="l">
              <a:lnSpc>
                <a:spcPct val="100000"/>
              </a:lnSpc>
            </a:pPr>
            <a:r>
              <a:rPr sz="1000" b="0">
                <a:solidFill>
                  <a:srgbClr val="5B6770"/>
                </a:solidFill>
                <a:latin typeface="Calibri"/>
              </a:rPr>
              <a:t>MCP + RAG for 1C  ·  Sergey Matyukhin  ·  2026</a:t>
            </a:r>
          </a:p>
        </p:txBody>
      </p:sp>
      <p:sp>
        <p:nvSpPr>
          <p:cNvPr id="5" name="TextBox 4"/>
          <p:cNvSpPr txBox="1"/>
          <p:nvPr/>
        </p:nvSpPr>
        <p:spPr>
          <a:xfrm>
            <a:off x="10957255" y="6400800"/>
            <a:ext cx="731520" cy="274320"/>
          </a:xfrm>
          <a:prstGeom prst="rect">
            <a:avLst/>
          </a:prstGeom>
          <a:noFill/>
        </p:spPr>
        <p:txBody>
          <a:bodyPr wrap="square" anchor="t">
            <a:spAutoFit/>
          </a:bodyPr>
          <a:lstStyle/>
          <a:p>
            <a:pPr algn="r">
              <a:lnSpc>
                <a:spcPct val="100000"/>
              </a:lnSpc>
            </a:pPr>
            <a:r>
              <a:rPr sz="1000" b="0">
                <a:solidFill>
                  <a:srgbClr val="5B6770"/>
                </a:solidFill>
                <a:latin typeface="Calibri"/>
              </a:rPr>
              <a:t>12</a:t>
            </a:r>
          </a:p>
        </p:txBody>
      </p:sp>
      <p:sp>
        <p:nvSpPr>
          <p:cNvPr id="6" name="TextBox 5"/>
          <p:cNvSpPr txBox="1"/>
          <p:nvPr/>
        </p:nvSpPr>
        <p:spPr>
          <a:xfrm>
            <a:off x="502920" y="1051560"/>
            <a:ext cx="11185855" cy="457200"/>
          </a:xfrm>
          <a:prstGeom prst="rect">
            <a:avLst/>
          </a:prstGeom>
          <a:noFill/>
        </p:spPr>
        <p:txBody>
          <a:bodyPr wrap="square" anchor="t">
            <a:spAutoFit/>
          </a:bodyPr>
          <a:lstStyle/>
          <a:p>
            <a:pPr algn="l">
              <a:lnSpc>
                <a:spcPct val="100000"/>
              </a:lnSpc>
            </a:pPr>
            <a:r>
              <a:rPr sz="1800" b="1">
                <a:solidFill>
                  <a:srgbClr val="0F3D5C"/>
                </a:solidFill>
                <a:latin typeface="Calibri"/>
              </a:rPr>
              <a:t>What is done</a:t>
            </a:r>
          </a:p>
        </p:txBody>
      </p:sp>
      <p:sp>
        <p:nvSpPr>
          <p:cNvPr id="7" name="TextBox 6"/>
          <p:cNvSpPr txBox="1"/>
          <p:nvPr/>
        </p:nvSpPr>
        <p:spPr>
          <a:xfrm>
            <a:off x="502920" y="1463040"/>
            <a:ext cx="11185855" cy="2514600"/>
          </a:xfrm>
          <a:prstGeom prst="rect">
            <a:avLst/>
          </a:prstGeom>
          <a:noFill/>
        </p:spPr>
        <p:txBody>
          <a:bodyPr wrap="square" anchor="t">
            <a:spAutoFit/>
          </a:bodyPr>
          <a:lstStyle/>
          <a:p>
            <a:pPr algn="l">
              <a:lnSpc>
                <a:spcPct val="100000"/>
              </a:lnSpc>
            </a:pPr>
            <a:r>
              <a:rPr sz="1500" b="0">
                <a:solidFill>
                  <a:srgbClr val="1F2A33"/>
                </a:solidFill>
                <a:latin typeface="Calibri"/>
              </a:rPr>
              <a:t/>
            </a:r>
          </a:p>
          <a:p>
            <a:pPr marL="240000" indent="-240000">
              <a:lnSpc>
                <a:spcPct val="100000"/>
              </a:lnSpc>
              <a:spcBef>
                <a:spcPts val="500"/>
              </a:spcBef>
              <a:spcAft>
                <a:spcPts val="300"/>
              </a:spcAft>
            </a:pPr>
            <a:r>
              <a:rPr sz="1500" b="0">
                <a:solidFill>
                  <a:srgbClr val="1F2A33"/>
                </a:solidFill>
                <a:latin typeface="Calibri"/>
              </a:rPr>
              <a:t>•  MCP server with 9 tools over a 179,586-chunk local index</a:t>
            </a:r>
          </a:p>
          <a:p>
            <a:pPr marL="240000" indent="-240000">
              <a:lnSpc>
                <a:spcPct val="100000"/>
              </a:lnSpc>
              <a:spcBef>
                <a:spcPts val="500"/>
              </a:spcBef>
              <a:spcAft>
                <a:spcPts val="300"/>
              </a:spcAft>
            </a:pPr>
            <a:r>
              <a:rPr sz="1500" b="0">
                <a:solidFill>
                  <a:srgbClr val="1F2A33"/>
                </a:solidFill>
                <a:latin typeface="Calibri"/>
              </a:rPr>
              <a:t>•  Retrieval: e5 cosine + global BM25 + RRF + an optional cross-encoder</a:t>
            </a:r>
          </a:p>
          <a:p>
            <a:pPr marL="240000" indent="-240000">
              <a:lnSpc>
                <a:spcPct val="100000"/>
              </a:lnSpc>
              <a:spcBef>
                <a:spcPts val="500"/>
              </a:spcBef>
              <a:spcAft>
                <a:spcPts val="300"/>
              </a:spcAft>
            </a:pPr>
            <a:r>
              <a:rPr sz="1500" b="0">
                <a:solidFill>
                  <a:srgbClr val="1F2A33"/>
                </a:solidFill>
                <a:latin typeface="Calibri"/>
              </a:rPr>
              <a:t>•  Router as a tested contract: 68/68 on the dev regression set</a:t>
            </a:r>
          </a:p>
          <a:p>
            <a:pPr marL="240000" indent="-240000">
              <a:lnSpc>
                <a:spcPct val="100000"/>
              </a:lnSpc>
              <a:spcBef>
                <a:spcPts val="500"/>
              </a:spcBef>
              <a:spcAft>
                <a:spcPts val="300"/>
              </a:spcAft>
            </a:pPr>
            <a:r>
              <a:rPr sz="1500" b="0">
                <a:solidFill>
                  <a:srgbClr val="1F2A33"/>
                </a:solidFill>
                <a:latin typeface="Calibri"/>
              </a:rPr>
              <a:t>•  Evaluation loop: gold-set v2, file-level metrics, 4 runs, mean ± std</a:t>
            </a:r>
          </a:p>
          <a:p>
            <a:pPr marL="240000" indent="-240000">
              <a:lnSpc>
                <a:spcPct val="100000"/>
              </a:lnSpc>
              <a:spcBef>
                <a:spcPts val="500"/>
              </a:spcBef>
              <a:spcAft>
                <a:spcPts val="300"/>
              </a:spcAft>
            </a:pPr>
            <a:r>
              <a:rPr sz="1500" b="0">
                <a:solidFill>
                  <a:srgbClr val="1F2A33"/>
                </a:solidFill>
                <a:latin typeface="Calibri"/>
              </a:rPr>
              <a:t>•  Engineering: 72 tests, ruff + mypy (22 modules) + complexity gate (avg 4.37 A), ADR log, CI green</a:t>
            </a:r>
          </a:p>
        </p:txBody>
      </p:sp>
      <p:sp>
        <p:nvSpPr>
          <p:cNvPr id="8" name="TextBox 7"/>
          <p:cNvSpPr txBox="1"/>
          <p:nvPr/>
        </p:nvSpPr>
        <p:spPr>
          <a:xfrm>
            <a:off x="502920" y="4069080"/>
            <a:ext cx="11185855" cy="457200"/>
          </a:xfrm>
          <a:prstGeom prst="rect">
            <a:avLst/>
          </a:prstGeom>
          <a:noFill/>
        </p:spPr>
        <p:txBody>
          <a:bodyPr wrap="square" anchor="t">
            <a:spAutoFit/>
          </a:bodyPr>
          <a:lstStyle/>
          <a:p>
            <a:pPr algn="l">
              <a:lnSpc>
                <a:spcPct val="100000"/>
              </a:lnSpc>
            </a:pPr>
            <a:r>
              <a:rPr sz="1800" b="1">
                <a:solidFill>
                  <a:srgbClr val="0F3D5C"/>
                </a:solidFill>
                <a:latin typeface="Calibri"/>
              </a:rPr>
              <a:t>What comes next</a:t>
            </a:r>
          </a:p>
        </p:txBody>
      </p:sp>
      <p:sp>
        <p:nvSpPr>
          <p:cNvPr id="9" name="TextBox 8"/>
          <p:cNvSpPr txBox="1"/>
          <p:nvPr/>
        </p:nvSpPr>
        <p:spPr>
          <a:xfrm>
            <a:off x="502920" y="4480560"/>
            <a:ext cx="11185855" cy="1463040"/>
          </a:xfrm>
          <a:prstGeom prst="rect">
            <a:avLst/>
          </a:prstGeom>
          <a:noFill/>
        </p:spPr>
        <p:txBody>
          <a:bodyPr wrap="square" anchor="t">
            <a:spAutoFit/>
          </a:bodyPr>
          <a:lstStyle/>
          <a:p>
            <a:pPr algn="l">
              <a:lnSpc>
                <a:spcPct val="100000"/>
              </a:lnSpc>
            </a:pPr>
            <a:r>
              <a:rPr sz="1500" b="0">
                <a:solidFill>
                  <a:srgbClr val="1F2A33"/>
                </a:solidFill>
                <a:latin typeface="Calibri"/>
              </a:rPr>
              <a:t/>
            </a:r>
          </a:p>
          <a:p>
            <a:pPr marL="240000" indent="-240000">
              <a:lnSpc>
                <a:spcPct val="100000"/>
              </a:lnSpc>
              <a:spcBef>
                <a:spcPts val="500"/>
              </a:spcBef>
              <a:spcAft>
                <a:spcPts val="300"/>
              </a:spcAft>
            </a:pPr>
            <a:r>
              <a:rPr sz="1500" b="0">
                <a:solidFill>
                  <a:srgbClr val="1F2A33"/>
                </a:solidFill>
                <a:latin typeface="Calibri"/>
              </a:rPr>
              <a:t>•  Finish the 2x2 ablation, then decide the default mode (ADR 0009)</a:t>
            </a:r>
          </a:p>
          <a:p>
            <a:pPr marL="240000" indent="-240000">
              <a:lnSpc>
                <a:spcPct val="100000"/>
              </a:lnSpc>
              <a:spcBef>
                <a:spcPts val="500"/>
              </a:spcBef>
              <a:spcAft>
                <a:spcPts val="300"/>
              </a:spcAft>
            </a:pPr>
            <a:r>
              <a:rPr sz="1500" b="0">
                <a:solidFill>
                  <a:srgbClr val="1F2A33"/>
                </a:solidFill>
                <a:latin typeface="Calibri"/>
              </a:rPr>
              <a:t>•  A new hold-out for the router; incremental indexing; get_metadata and find_callers</a:t>
            </a:r>
          </a:p>
          <a:p>
            <a:pPr marL="240000" indent="-240000">
              <a:lnSpc>
                <a:spcPct val="100000"/>
              </a:lnSpc>
              <a:spcBef>
                <a:spcPts val="500"/>
              </a:spcBef>
              <a:spcAft>
                <a:spcPts val="300"/>
              </a:spcAft>
            </a:pPr>
            <a:r>
              <a:rPr sz="1500" b="0">
                <a:solidFill>
                  <a:srgbClr val="1F2A33"/>
                </a:solidFill>
                <a:latin typeface="Calibri"/>
              </a:rPr>
              <a:t>•  Code-oriented embeddings; a code reranker; 100+ manually labelled queries</a:t>
            </a:r>
          </a:p>
        </p:txBody>
      </p:sp>
      <p:sp>
        <p:nvSpPr>
          <p:cNvPr id="10" name="TextBox 9"/>
          <p:cNvSpPr txBox="1"/>
          <p:nvPr/>
        </p:nvSpPr>
        <p:spPr>
          <a:xfrm>
            <a:off x="502920" y="5943600"/>
            <a:ext cx="11185855" cy="457200"/>
          </a:xfrm>
          <a:prstGeom prst="rect">
            <a:avLst/>
          </a:prstGeom>
          <a:noFill/>
        </p:spPr>
        <p:txBody>
          <a:bodyPr wrap="square" anchor="t">
            <a:spAutoFit/>
          </a:bodyPr>
          <a:lstStyle/>
          <a:p>
            <a:pPr algn="l">
              <a:lnSpc>
                <a:spcPct val="100000"/>
              </a:lnSpc>
            </a:pPr>
            <a:r>
              <a:rPr sz="1400" b="1">
                <a:solidFill>
                  <a:srgbClr val="1B7FAE"/>
                </a:solidFill>
                <a:latin typeface="Calibri"/>
              </a:rPr>
              <a:t>github.com/Smaturus/1c-mcp-rag-search  ·  smaturus@gmail.com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