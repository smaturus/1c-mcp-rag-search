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latin typeface="Calibri"/>
              </a:rPr>
              <a:t>nDCG@10, current corpus (fixed BM25)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nDCG@10</c:v>
                </c:pt>
              </c:strCache>
            </c:strRef>
          </c:tx>
          <c:spPr>
            <a:solidFill>
              <a:srgbClr val="1B7FAE"/>
            </a:solidFill>
          </c:spPr>
          <c:cat>
            <c:strRef>
              <c:f>Sheet1!$A$2:$A$5</c:f>
              <c:strCache>
                <c:ptCount val="4"/>
                <c:pt idx="0">
                  <c:v>vector</c:v>
                </c:pt>
                <c:pt idx="1">
                  <c:v>pearson</c:v>
                </c:pt>
                <c:pt idx="2">
                  <c:v>hybrid</c:v>
                </c:pt>
                <c:pt idx="3">
                  <c:v>hybrid_rerank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0.331</c:v>
                </c:pt>
                <c:pt idx="1">
                  <c:v>0.383</c:v>
                </c:pt>
                <c:pt idx="2">
                  <c:v>0.442</c:v>
                </c:pt>
                <c:pt idx="3">
                  <c:v>0.117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sz="1000"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55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068027336"/>
        <c:crosses val="autoZero"/>
        <c:majorUnit val="0.1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Thirty seconds: who I am, what the artefact is. One sentence to plant the thesis - this is not only 'search works', it is measured quality plus documented decisions. Duration is on screen so I keep the 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the task as engineering, not as a demo. There are two equal halves: the MCP server an agent can call, and the retrieval pipeline with an evaluation contour. The second half is what the talk defends.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numbers to anchor the talk: corpus size, quality of the current leader, router coverage, metadata hit rate. Then the stack in one breath. The counts are exact: 154,560 code chunks plus 25,026 metadata chunks.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loops. The important design point is that BM25 is a global index over all chunks, not a reranker over cosine candidates - otherwise RRF would be meaningless. The reranker sits after fusion and is off by default.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corpus is the change that moved the metrics. Procedure chunks are coherent units, so cosine improved and file-level recall went from 0.310 to 0.523. The same repetition of procedure names and paths weakened the lexical signal. Metadata came from XML, which lifted BM25 Hit@3 from 93.0% to 99.7%.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Nine tools, one contract. The interesting part is not the count, it is that tool choice is explicit and testable. Be honest about the router: the blind set scored 75% before the patches, which is below my own gate, so I published it. After the patches it is 20/20 - but on a set that is no longer blind.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RRF is the central past design decision. We fuse positions, not scores, so no weights are tuned. On the old corpus this gave a +19% gain over vector. On the current corpus the apparent flip was a BM25 tokenizer defect; after the fix hybrid leads again (0.442 vs 0.331) - that is slide 10 and ADR 0010.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honest negative result. The reranker makes quality worse on this domain and is much slower, so it stays behind a flag. Keeping the losing row in the table is the point: the pipeline was not massaged until it looked good.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methodology matters more than the numbers. The first gold-set version had a defect in how relevance was scored, it was fixed and written down in ADR 0003. The spread across four runs is reported everywhere, so nobody has to trust a single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table top to bottom: hybrid 0.442, lexical 0.426, pearson 0.383, vector 0.331, rerank 0.117. The paired test gives delta minus 0.112, confidence interval from minus 0.184 to minus 0.038, p = 0.0037: hybrid is significantly better on v2. On the independent v3 hold-out hybrid is 0.217 against vector 0.208, p = 0.635, so not worse. The apparent leader flip was a BM25 tokenizer defect: CamelCase identifiers were not split, so natural queries missed them. I fixed the tokenizer, rebuilt the index, and the old 2x2 ablation is void.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Ten ADRs, five honest limitations. As a portfolio piece this is a strength: it shows where the solution stops. The cold start and the missing incremental indexing are the two things a production user would hit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thesis: measurable retrieval plus decisions that are written down. Then the next steps, and where to find the code. Hand over to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00200"/>
            <a:ext cx="1118585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000" b="1">
                <a:solidFill>
                  <a:srgbClr val="FFFFFF"/>
                </a:solidFill>
                <a:latin typeface="Calibri"/>
              </a:rPr>
              <a:t>MCP + RAG for 1C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743200"/>
            <a:ext cx="11185855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CFE4EF"/>
                </a:solidFill>
                <a:latin typeface="Calibri"/>
              </a:rPr>
              <a:t>Local-first search over BSL business logic and configuration metadata:
hybrid BM25 + cosine via RRF, and an honest evaluation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4224528"/>
            <a:ext cx="2011680" cy="45720"/>
          </a:xfrm>
          <a:prstGeom prst="rect">
            <a:avLst/>
          </a:prstGeom>
          <a:solidFill>
            <a:srgbClr val="6FB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448056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Sergey Matyukhin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9204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B9D7E6"/>
                </a:solidFill>
                <a:latin typeface="Calibri"/>
              </a:rPr>
              <a:t>github.com/Smaturus/1c-mcp-rag-search
MCP Python SDK  ·  Chroma  ·  multilingual-e5-small  ·  BM25  ·  RRF  ·  flashrank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58978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8FB8CF"/>
                </a:solidFill>
                <a:latin typeface="Calibri"/>
              </a:rPr>
              <a:t>English talk · 10 minutes + Q&amp;A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8585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0F3D5C"/>
                </a:solidFill>
                <a:latin typeface="Calibri"/>
              </a:rPr>
              <a:t>The problem, and what I 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MCP + RAG for 1C  ·  Sergey Matyukhin  · 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7255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9728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3D5C"/>
                </a:solidFill>
                <a:latin typeface="Calibri"/>
              </a:rPr>
              <a:t>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554480"/>
            <a:ext cx="5349240" cy="4206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1F2A33"/>
                </a:solidFill>
                <a:latin typeface="Calibri"/>
              </a:rPr>
              <a:t/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600" b="0">
                <a:solidFill>
                  <a:srgbClr val="1F2A33"/>
                </a:solidFill>
                <a:latin typeface="Calibri"/>
              </a:rPr>
              <a:t>•  A 1C configuration dump is thousands of .bsl modules plus a multi-megabyte metadata report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600" b="0">
                <a:solidFill>
                  <a:srgbClr val="1F2A33"/>
                </a:solidFill>
                <a:latin typeface="Calibri"/>
              </a:rPr>
              <a:t>•  grep matches text, not meaning; an exact handler name and an intent question need different tools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600" b="0">
                <a:solidFill>
                  <a:srgbClr val="1F2A33"/>
                </a:solidFill>
                <a:latin typeface="Calibri"/>
              </a:rPr>
              <a:t>•  Hosted search stacks mean deployment work and data leaving the machine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600" b="0">
                <a:solidFill>
                  <a:srgbClr val="1F2A33"/>
                </a:solidFill>
                <a:latin typeface="Calibri"/>
              </a:rPr>
              <a:t>•  An LLM agent needs a tool whose quality is measured, not assumed</a:t>
            </a:r>
          </a:p>
        </p:txBody>
      </p:sp>
      <p:sp>
        <p:nvSpPr>
          <p:cNvPr id="8" name="Rectangle 7"/>
          <p:cNvSpPr/>
          <p:nvPr/>
        </p:nvSpPr>
        <p:spPr>
          <a:xfrm>
            <a:off x="6080760" y="1188720"/>
            <a:ext cx="9525" cy="4526280"/>
          </a:xfrm>
          <a:prstGeom prst="rect">
            <a:avLst/>
          </a:prstGeom>
          <a:solidFill>
            <a:srgbClr val="D3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097280"/>
            <a:ext cx="5349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3D5C"/>
                </a:solidFill>
                <a:latin typeface="Calibri"/>
              </a:rPr>
              <a:t>What I built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554480"/>
            <a:ext cx="5349240" cy="4206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1F2A33"/>
                </a:solidFill>
                <a:latin typeface="Calibri"/>
              </a:rPr>
              <a:t/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600" b="0">
                <a:solidFill>
                  <a:srgbClr val="1F2A33"/>
                </a:solidFill>
                <a:latin typeface="Calibri"/>
              </a:rPr>
              <a:t>•  A local MCP server over stdio: 9 tools, including an explainable router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600" b="0">
                <a:solidFill>
                  <a:srgbClr val="1F2A33"/>
                </a:solidFill>
                <a:latin typeface="Calibri"/>
              </a:rPr>
              <a:t>•  Fully local retrieval: e5-small embeddings plus Chroma, CPU only, no external APIs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600" b="0">
                <a:solidFill>
                  <a:srgbClr val="1F2A33"/>
                </a:solidFill>
                <a:latin typeface="Calibri"/>
              </a:rPr>
              <a:t>•  Hybrid search: cosine and a global BM25 index, fused with Reciprocal Rank Fusion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600" b="0">
                <a:solidFill>
                  <a:srgbClr val="1F2A33"/>
                </a:solidFill>
                <a:latin typeface="Calibri"/>
              </a:rPr>
              <a:t>•  Measured: gold-set v2, 70 queries, file-level relevance, 4 independent runs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8585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0F3D5C"/>
                </a:solidFill>
                <a:latin typeface="Calibri"/>
              </a:rPr>
              <a:t>The project in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MCP + RAG for 1C  ·  Sergey Matyukhin  · 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7255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2651760" cy="1508760"/>
          </a:xfrm>
          <a:prstGeom prst="roundRect">
            <a:avLst>
              <a:gd name="adj" fmla="val 8000"/>
            </a:avLst>
          </a:prstGeom>
          <a:solidFill>
            <a:srgbClr val="EAF2F7"/>
          </a:solidFill>
          <a:ln>
            <a:solidFill>
              <a:srgbClr val="D3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3000" b="1">
                <a:solidFill>
                  <a:srgbClr val="0F3D5C"/>
                </a:solidFill>
                <a:latin typeface="Calibri"/>
              </a:rPr>
              <a:t>179,586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5B6770"/>
                </a:solidFill>
                <a:latin typeface="Calibri"/>
              </a:rPr>
              <a:t>chunks in the index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19272" y="1188720"/>
            <a:ext cx="2651760" cy="1508760"/>
          </a:xfrm>
          <a:prstGeom prst="roundRect">
            <a:avLst>
              <a:gd name="adj" fmla="val 8000"/>
            </a:avLst>
          </a:prstGeom>
          <a:solidFill>
            <a:srgbClr val="EAF2F7"/>
          </a:solidFill>
          <a:ln>
            <a:solidFill>
              <a:srgbClr val="D3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3000" b="1">
                <a:solidFill>
                  <a:srgbClr val="0F3D5C"/>
                </a:solidFill>
                <a:latin typeface="Calibri"/>
              </a:rPr>
              <a:t>0.442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5B6770"/>
                </a:solidFill>
                <a:latin typeface="Calibri"/>
              </a:rPr>
              <a:t>nDCG@10, hybrid (leader)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35624" y="1188720"/>
            <a:ext cx="2651760" cy="1508760"/>
          </a:xfrm>
          <a:prstGeom prst="roundRect">
            <a:avLst>
              <a:gd name="adj" fmla="val 8000"/>
            </a:avLst>
          </a:prstGeom>
          <a:solidFill>
            <a:srgbClr val="EAF2F7"/>
          </a:solidFill>
          <a:ln>
            <a:solidFill>
              <a:srgbClr val="D3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3000" b="1">
                <a:solidFill>
                  <a:srgbClr val="0F3D5C"/>
                </a:solidFill>
                <a:latin typeface="Calibri"/>
              </a:rPr>
              <a:t>68/68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5B6770"/>
                </a:solidFill>
                <a:latin typeface="Calibri"/>
              </a:rPr>
              <a:t>router regression cases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51976" y="1188720"/>
            <a:ext cx="2651760" cy="1508760"/>
          </a:xfrm>
          <a:prstGeom prst="roundRect">
            <a:avLst>
              <a:gd name="adj" fmla="val 8000"/>
            </a:avLst>
          </a:prstGeom>
          <a:solidFill>
            <a:srgbClr val="EAF2F7"/>
          </a:solidFill>
          <a:ln>
            <a:solidFill>
              <a:srgbClr val="D3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3000" b="1">
                <a:solidFill>
                  <a:srgbClr val="0F3D5C"/>
                </a:solidFill>
                <a:latin typeface="Calibri"/>
              </a:rPr>
              <a:t>99.7 %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5B6770"/>
                </a:solidFill>
                <a:latin typeface="Calibri"/>
              </a:rPr>
              <a:t>metadata BM25 Hit@3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017520"/>
            <a:ext cx="111858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3D5C"/>
                </a:solidFill>
                <a:latin typeface="Calibri"/>
              </a:rPr>
              <a:t>Stack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474720"/>
            <a:ext cx="11185855" cy="2651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1F2A33"/>
                </a:solidFill>
                <a:latin typeface="Calibri"/>
              </a:rPr>
              <a:t/>
            </a:r>
          </a:p>
          <a:p>
            <a:pPr marL="240000" indent="-240000">
              <a:lnSpc>
                <a:spcPct val="100000"/>
              </a:lnSpc>
              <a:spcBef>
                <a:spcPts val="900"/>
              </a:spcBef>
              <a:spcAft>
                <a:spcPts val="3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Embeddings: intfloat/multilingual-e5-small, 384 dimensions, 512-token limit, query:/passage: prefixes</a:t>
            </a:r>
          </a:p>
          <a:p>
            <a:pPr marL="240000" indent="-240000">
              <a:lnSpc>
                <a:spcPct val="100000"/>
              </a:lnSpc>
              <a:spcBef>
                <a:spcPts val="900"/>
              </a:spcBef>
              <a:spcAft>
                <a:spcPts val="3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Storage: Chroma with HNSW cosine; lexical side: a custom BM25 inverted index over all chunks</a:t>
            </a:r>
          </a:p>
          <a:p>
            <a:pPr marL="240000" indent="-240000">
              <a:lnSpc>
                <a:spcPct val="100000"/>
              </a:lnSpc>
              <a:spcBef>
                <a:spcPts val="900"/>
              </a:spcBef>
              <a:spcAft>
                <a:spcPts val="3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Fusion: Reciprocal Rank Fusion, k = 60; optional flashrank cross-encoder, off by default</a:t>
            </a:r>
          </a:p>
          <a:p>
            <a:pPr marL="240000" indent="-240000">
              <a:lnSpc>
                <a:spcPct val="100000"/>
              </a:lnSpc>
              <a:spcBef>
                <a:spcPts val="900"/>
              </a:spcBef>
              <a:spcAft>
                <a:spcPts val="3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Interface: MCP over stdio, 9 tools; evaluation: 70 queries x 4 configurations, 4 runs each</a:t>
            </a:r>
          </a:p>
          <a:p>
            <a:pPr marL="240000" indent="-240000">
              <a:lnSpc>
                <a:spcPct val="100000"/>
              </a:lnSpc>
              <a:spcBef>
                <a:spcPts val="900"/>
              </a:spcBef>
              <a:spcAft>
                <a:spcPts val="3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Engineering: Python 3.11/3.12, 74 unit tests, ruff clean, mypy on 22 modules, complexity gate 143 blocks (avg 4.37, A); 40-60 ms/query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8585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0F3D5C"/>
                </a:solidFill>
                <a:latin typeface="Calibri"/>
              </a:rPr>
              <a:t>Architecture: two loops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MCP + RAG for 1C  ·  Sergey Matyukhin  · 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7255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144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B7FAE"/>
                </a:solidFill>
                <a:latin typeface="Calibri"/>
              </a:rPr>
              <a:t>Offline index build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98448"/>
            <a:ext cx="2148840" cy="777240"/>
          </a:xfrm>
          <a:prstGeom prst="roundRect">
            <a:avLst>
              <a:gd name="adj" fmla="val 12000"/>
            </a:avLst>
          </a:prstGeom>
          <a:solidFill>
            <a:srgbClr val="EAF2F7"/>
          </a:solidFill>
          <a:ln w="12700">
            <a:solidFill>
              <a:srgbClr val="1B7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1C configuration</a:t>
            </a:r>
          </a:p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dump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724912" y="1572768"/>
            <a:ext cx="219456" cy="228600"/>
          </a:xfrm>
          <a:prstGeom prst="rightArrow">
            <a:avLst/>
          </a:prstGeom>
          <a:solidFill>
            <a:srgbClr val="1B7F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017520" y="1298448"/>
            <a:ext cx="1874519" cy="777240"/>
          </a:xfrm>
          <a:prstGeom prst="roundRect">
            <a:avLst>
              <a:gd name="adj" fmla="val 12000"/>
            </a:avLst>
          </a:prstGeom>
          <a:solidFill>
            <a:srgbClr val="EAF2F7"/>
          </a:solidFill>
          <a:ln w="12700">
            <a:solidFill>
              <a:srgbClr val="1B7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chunking</a:t>
            </a:r>
          </a:p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procedures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965191" y="1572768"/>
            <a:ext cx="219456" cy="228600"/>
          </a:xfrm>
          <a:prstGeom prst="rightArrow">
            <a:avLst/>
          </a:prstGeom>
          <a:solidFill>
            <a:srgbClr val="1B7F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257799" y="1298448"/>
            <a:ext cx="1325880" cy="777240"/>
          </a:xfrm>
          <a:prstGeom prst="roundRect">
            <a:avLst>
              <a:gd name="adj" fmla="val 12000"/>
            </a:avLst>
          </a:prstGeom>
          <a:solidFill>
            <a:srgbClr val="EAF2F7"/>
          </a:solidFill>
          <a:ln w="12700">
            <a:solidFill>
              <a:srgbClr val="1B7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e5</a:t>
            </a:r>
          </a:p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passage: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656831" y="1572768"/>
            <a:ext cx="219456" cy="228600"/>
          </a:xfrm>
          <a:prstGeom prst="rightArrow">
            <a:avLst/>
          </a:prstGeom>
          <a:solidFill>
            <a:srgbClr val="1B7F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949439" y="1298448"/>
            <a:ext cx="1417320" cy="777240"/>
          </a:xfrm>
          <a:prstGeom prst="roundRect">
            <a:avLst>
              <a:gd name="adj" fmla="val 12000"/>
            </a:avLst>
          </a:prstGeom>
          <a:solidFill>
            <a:srgbClr val="EAF2F7"/>
          </a:solidFill>
          <a:ln w="12700">
            <a:solidFill>
              <a:srgbClr val="1B7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Chroma</a:t>
            </a:r>
          </a:p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cosine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439911" y="1572768"/>
            <a:ext cx="219456" cy="228600"/>
          </a:xfrm>
          <a:prstGeom prst="rightArrow">
            <a:avLst/>
          </a:prstGeom>
          <a:solidFill>
            <a:srgbClr val="1B7F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732519" y="1298448"/>
            <a:ext cx="1691640" cy="777240"/>
          </a:xfrm>
          <a:prstGeom prst="roundRect">
            <a:avLst>
              <a:gd name="adj" fmla="val 12000"/>
            </a:avLst>
          </a:prstGeom>
          <a:solidFill>
            <a:srgbClr val="EAF2F7"/>
          </a:solidFill>
          <a:ln w="12700">
            <a:solidFill>
              <a:srgbClr val="1B7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BM25</a:t>
            </a:r>
          </a:p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inverted index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2514600"/>
            <a:ext cx="6400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B7FAE"/>
                </a:solidFill>
                <a:latin typeface="Calibri"/>
              </a:rPr>
              <a:t>Online query path (MCP over stdio)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907792"/>
            <a:ext cx="1097280" cy="822960"/>
          </a:xfrm>
          <a:prstGeom prst="roundRect">
            <a:avLst>
              <a:gd name="adj" fmla="val 12000"/>
            </a:avLst>
          </a:prstGeom>
          <a:solidFill>
            <a:srgbClr val="E3F0F6"/>
          </a:solidFill>
          <a:ln w="12700">
            <a:solidFill>
              <a:srgbClr val="1B7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query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1655064" y="3200400"/>
            <a:ext cx="201168" cy="219456"/>
          </a:xfrm>
          <a:prstGeom prst="rightArrow">
            <a:avLst/>
          </a:prstGeom>
          <a:solidFill>
            <a:srgbClr val="1B7F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911096" y="2907792"/>
            <a:ext cx="1234440" cy="822960"/>
          </a:xfrm>
          <a:prstGeom prst="roundRect">
            <a:avLst>
              <a:gd name="adj" fmla="val 12000"/>
            </a:avLst>
          </a:prstGeom>
          <a:solidFill>
            <a:srgbClr val="E3F0F6"/>
          </a:solidFill>
          <a:ln w="12700">
            <a:solidFill>
              <a:srgbClr val="1B7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e5</a:t>
            </a:r>
          </a:p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query: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3200400" y="3200400"/>
            <a:ext cx="201168" cy="219456"/>
          </a:xfrm>
          <a:prstGeom prst="rightArrow">
            <a:avLst/>
          </a:prstGeom>
          <a:solidFill>
            <a:srgbClr val="1B7F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456432" y="2907792"/>
            <a:ext cx="1600200" cy="822960"/>
          </a:xfrm>
          <a:prstGeom prst="roundRect">
            <a:avLst>
              <a:gd name="adj" fmla="val 12000"/>
            </a:avLst>
          </a:prstGeom>
          <a:solidFill>
            <a:srgbClr val="E3F0F6"/>
          </a:solidFill>
          <a:ln w="12700">
            <a:solidFill>
              <a:srgbClr val="1B7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cosine</a:t>
            </a:r>
          </a:p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top-50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5111496" y="3200400"/>
            <a:ext cx="201168" cy="219456"/>
          </a:xfrm>
          <a:prstGeom prst="rightArrow">
            <a:avLst/>
          </a:prstGeom>
          <a:solidFill>
            <a:srgbClr val="1B7F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367528" y="2907792"/>
            <a:ext cx="1234440" cy="822960"/>
          </a:xfrm>
          <a:prstGeom prst="roundRect">
            <a:avLst>
              <a:gd name="adj" fmla="val 12000"/>
            </a:avLst>
          </a:prstGeom>
          <a:solidFill>
            <a:srgbClr val="E3F0F6"/>
          </a:solidFill>
          <a:ln w="12700">
            <a:solidFill>
              <a:srgbClr val="1B7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RRF</a:t>
            </a:r>
          </a:p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k = 60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6656832" y="3200400"/>
            <a:ext cx="201168" cy="219456"/>
          </a:xfrm>
          <a:prstGeom prst="rightArrow">
            <a:avLst/>
          </a:prstGeom>
          <a:solidFill>
            <a:srgbClr val="1B7F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912864" y="2907792"/>
            <a:ext cx="1371600" cy="822960"/>
          </a:xfrm>
          <a:prstGeom prst="roundRect">
            <a:avLst>
              <a:gd name="adj" fmla="val 12000"/>
            </a:avLst>
          </a:prstGeom>
          <a:solidFill>
            <a:srgbClr val="E3F0F6"/>
          </a:solidFill>
          <a:ln w="12700">
            <a:solidFill>
              <a:srgbClr val="1B7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rerank</a:t>
            </a:r>
          </a:p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(optional)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8339328" y="3200400"/>
            <a:ext cx="201168" cy="219456"/>
          </a:xfrm>
          <a:prstGeom prst="rightArrow">
            <a:avLst/>
          </a:prstGeom>
          <a:solidFill>
            <a:srgbClr val="1B7F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595360" y="2907792"/>
            <a:ext cx="1005840" cy="822960"/>
          </a:xfrm>
          <a:prstGeom prst="roundRect">
            <a:avLst>
              <a:gd name="adj" fmla="val 12000"/>
            </a:avLst>
          </a:prstGeom>
          <a:solidFill>
            <a:srgbClr val="E3F0F6"/>
          </a:solidFill>
          <a:ln w="12700">
            <a:solidFill>
              <a:srgbClr val="1B7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top-k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886200" y="4114800"/>
            <a:ext cx="1828800" cy="685800"/>
          </a:xfrm>
          <a:prstGeom prst="roundRect">
            <a:avLst>
              <a:gd name="adj" fmla="val 12000"/>
            </a:avLst>
          </a:prstGeom>
          <a:solidFill>
            <a:srgbClr val="E3F0F6"/>
          </a:solidFill>
          <a:ln w="12700">
            <a:solidFill>
              <a:srgbClr val="1B7F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F2A33"/>
                </a:solidFill>
                <a:latin typeface="Calibri"/>
              </a:rPr>
              <a:t>BM25 top-50</a:t>
            </a:r>
          </a:p>
        </p:txBody>
      </p:sp>
      <p:sp>
        <p:nvSpPr>
          <p:cNvPr id="29" name="Up Arrow 28"/>
          <p:cNvSpPr/>
          <p:nvPr/>
        </p:nvSpPr>
        <p:spPr>
          <a:xfrm>
            <a:off x="4645152" y="3986784"/>
            <a:ext cx="237744" cy="256032"/>
          </a:xfrm>
          <a:prstGeom prst="upArrow">
            <a:avLst/>
          </a:prstGeom>
          <a:solidFill>
            <a:srgbClr val="1B7F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5074920"/>
            <a:ext cx="11185855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B6770"/>
                </a:solidFill>
                <a:latin typeface="Calibri"/>
              </a:rPr>
              <a:t>Top: the offline index build. Bottom: the online query path. RRF fuses two independent rankings; the cross-encoder is an optional extra stage. Everything runs locally: no external APIs, no data leaves the machine.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8585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0F3D5C"/>
                </a:solidFill>
                <a:latin typeface="Calibri"/>
              </a:rPr>
              <a:t>Corpus and chunking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MCP + RAG for 1C  ·  Sergey Matyukhin  · 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7255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9728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0F3D5C"/>
                </a:solidFill>
                <a:latin typeface="Calibri"/>
              </a:rPr>
              <a:t>Procedure-level chunking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554480"/>
            <a:ext cx="548640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A33"/>
                </a:solidFill>
                <a:latin typeface="Calibri"/>
              </a:rPr>
              <a:t/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154,560 code chunks: one procedure or function per chunk (ADR 0007)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Before (symbolic 1200/200 windows): procedures cut mid-body, 32.1% of chunks over the 512-token limit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25,026 metadata chunks parsed from the configuration XML dump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Total: 179,586 chunks in the index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Current gates: 99.6% code coverage; 0.3% over 512 tokens; tokens p50/p99/max = 179 / 472 / 554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1188720"/>
            <a:ext cx="9525" cy="4343400"/>
          </a:xfrm>
          <a:prstGeom prst="rect">
            <a:avLst/>
          </a:prstGeom>
          <a:solidFill>
            <a:srgbClr val="D3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09728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0F3D5C"/>
                </a:solidFill>
                <a:latin typeface="Calibri"/>
              </a:rPr>
              <a:t>Metadata from XML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1554480"/>
            <a:ext cx="493776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A33"/>
                </a:solidFill>
                <a:latin typeface="Calibri"/>
              </a:rPr>
              <a:t/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25,026 chunks over 5,911 objects: attributes, types and form names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BM25 Hit@3 99.7% against 93.0% for the old text-report source (ADR 0008)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Structured source keeps field names and types inside the chunk text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46520" y="3566160"/>
            <a:ext cx="4709160" cy="1417320"/>
          </a:xfrm>
          <a:prstGeom prst="roundRect">
            <a:avLst>
              <a:gd name="adj" fmla="val 8000"/>
            </a:avLst>
          </a:prstGeom>
          <a:solidFill>
            <a:srgbClr val="EAF2F7"/>
          </a:solidFill>
          <a:ln>
            <a:solidFill>
              <a:srgbClr val="D3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2600" b="1">
                <a:solidFill>
                  <a:srgbClr val="0F3D5C"/>
                </a:solidFill>
                <a:latin typeface="Calibri"/>
              </a:rPr>
              <a:t>93.0% → 99.7%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5B6770"/>
                </a:solidFill>
                <a:latin typeface="Calibri"/>
              </a:rPr>
              <a:t>BM25 Hit@3 on metadata, text report → XML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5166360"/>
            <a:ext cx="47548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6770"/>
                </a:solidFill>
                <a:latin typeface="Calibri"/>
              </a:rPr>
              <a:t>Parsed once into JSONL, then indexed like code.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8585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0F3D5C"/>
                </a:solidFill>
                <a:latin typeface="Calibri"/>
              </a:rPr>
              <a:t>MCP server: tools for an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MCP + RAG for 1C  ·  Sergey Matyukhin  · 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7255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078992"/>
          <a:ext cx="11185854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09304"/>
                <a:gridCol w="6876550"/>
              </a:tblGrid>
              <a:tr h="301752">
                <a:tc>
                  <a:txBody>
                    <a:bodyPr lIns="73152" rIns="73152" tIns="18288" bIns="18288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Tool</a:t>
                      </a:r>
                    </a:p>
                  </a:txBody>
                  <a:tcPr anchor="ctr">
                    <a:solidFill>
                      <a:srgbClr val="0F3D5C"/>
                    </a:solidFill>
                  </a:tcPr>
                </a:tc>
                <a:tc>
                  <a:txBody>
                    <a:bodyPr lIns="73152" rIns="73152" tIns="18288" bIns="18288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What it returns / when to use it</a:t>
                      </a:r>
                    </a:p>
                  </a:txBody>
                  <a:tcPr anchor="ctr">
                    <a:solidFill>
                      <a:srgbClr val="0F3D5C"/>
                    </a:solidFill>
                  </a:tcPr>
                </a:tc>
              </a:tr>
              <a:tr h="301752">
                <a:tc>
                  <a:txBody>
                    <a:bodyPr lIns="73152" rIns="73152" tIns="18288" bIns="18288"/>
                    <a:lstStyle/>
                    <a:p>
                      <a:r>
                        <a:rPr sz="1150" b="0">
                          <a:solidFill>
                            <a:srgbClr val="1F2A33"/>
                          </a:solidFill>
                          <a:latin typeface="Calibri"/>
                        </a:rPr>
                        <a:t>codesearch(query, limit)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18288" bIns="18288"/>
                    <a:lstStyle/>
                    <a:p>
                      <a:r>
                        <a:rPr sz="1150" b="0">
                          <a:solidFill>
                            <a:srgbClr val="1F2A33"/>
                          </a:solidFill>
                          <a:latin typeface="Calibri"/>
                        </a:rPr>
                        <a:t>cosine baseline over BSL code modules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lIns="73152" rIns="73152" tIns="18288" bIns="18288"/>
                    <a:lstStyle/>
                    <a:p>
                      <a:r>
                        <a:rPr sz="1150" b="0">
                          <a:solidFill>
                            <a:srgbClr val="1F2A33"/>
                          </a:solidFill>
                          <a:latin typeface="Calibri"/>
                        </a:rPr>
                        <a:t>metadatasearch(query, limit)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 lIns="73152" rIns="73152" tIns="18288" bIns="18288"/>
                    <a:lstStyle/>
                    <a:p>
                      <a:r>
                        <a:rPr sz="1150" b="0">
                          <a:solidFill>
                            <a:srgbClr val="1F2A33"/>
                          </a:solidFill>
                          <a:latin typeface="Calibri"/>
                        </a:rPr>
                        <a:t>cosine baseline over configuration metadata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</a:tr>
              <a:tr h="301752">
                <a:tc>
                  <a:txBody>
                    <a:bodyPr lIns="73152" rIns="73152" tIns="18288" bIns="18288"/>
                    <a:lstStyle/>
                    <a:p>
                      <a:r>
                        <a:rPr sz="1150" b="0">
                          <a:solidFill>
                            <a:srgbClr val="1F2A33"/>
                          </a:solidFill>
                          <a:latin typeface="Calibri"/>
                        </a:rPr>
                        <a:t>search(query, top_k, mode, collection)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18288" bIns="18288"/>
                    <a:lstStyle/>
                    <a:p>
                      <a:r>
                        <a:rPr sz="1150" b="0">
                          <a:solidFill>
                            <a:srgbClr val="1F2A33"/>
                          </a:solidFill>
                          <a:latin typeface="Calibri"/>
                        </a:rPr>
                        <a:t>unified entry: vector | hybrid | hybrid_rerank | pearson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lIns="73152" rIns="73152" tIns="18288" bIns="18288"/>
                    <a:lstStyle/>
                    <a:p>
                      <a:r>
                        <a:rPr sz="1150" b="0">
                          <a:solidFill>
                            <a:srgbClr val="1F2A33"/>
                          </a:solidFill>
                          <a:latin typeface="Calibri"/>
                        </a:rPr>
                        <a:t>evaluate_retrieval(query, k, ...)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 lIns="73152" rIns="73152" tIns="18288" bIns="18288"/>
                    <a:lstStyle/>
                    <a:p>
                      <a:r>
                        <a:rPr sz="1150" b="0">
                          <a:solidFill>
                            <a:srgbClr val="1F2A33"/>
                          </a:solidFill>
                          <a:latin typeface="Calibri"/>
                        </a:rPr>
                        <a:t>Hit@k, MRR, nDCG and a null-tail check for one query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</a:tr>
              <a:tr h="301752">
                <a:tc>
                  <a:txBody>
                    <a:bodyPr lIns="73152" rIns="73152" tIns="18288" bIns="18288"/>
                    <a:lstStyle/>
                    <a:p>
                      <a:r>
                        <a:rPr sz="1150" b="0">
                          <a:solidFill>
                            <a:srgbClr val="1F2A33"/>
                          </a:solidFill>
                          <a:latin typeface="Calibri"/>
                        </a:rPr>
                        <a:t>search_1c_metadata(query, limit)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18288" bIns="18288"/>
                    <a:lstStyle/>
                    <a:p>
                      <a:r>
                        <a:rPr sz="1150" b="0">
                          <a:solidFill>
                            <a:srgbClr val="1F2A33"/>
                          </a:solidFill>
                          <a:latin typeface="Calibri"/>
                        </a:rPr>
                        <a:t>BM25: exact names, handlers, calls, "who writes to this register"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lIns="73152" rIns="73152" tIns="18288" bIns="18288"/>
                    <a:lstStyle/>
                    <a:p>
                      <a:r>
                        <a:rPr sz="1150" b="0">
                          <a:solidFill>
                            <a:srgbClr val="1F2A33"/>
                          </a:solidFill>
                          <a:latin typeface="Calibri"/>
                        </a:rPr>
                        <a:t>search_knowledge_base(query, limit)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 lIns="73152" rIns="73152" tIns="18288" bIns="18288"/>
                    <a:lstStyle/>
                    <a:p>
                      <a:r>
                        <a:rPr sz="1150" b="0">
                          <a:solidFill>
                            <a:srgbClr val="1F2A33"/>
                          </a:solidFill>
                          <a:latin typeface="Calibri"/>
                        </a:rPr>
                        <a:t>vector: "how to", "why it fails", instructions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</a:tr>
              <a:tr h="301752">
                <a:tc>
                  <a:txBody>
                    <a:bodyPr lIns="73152" rIns="73152" tIns="18288" bIns="18288"/>
                    <a:lstStyle/>
                    <a:p>
                      <a:r>
                        <a:rPr sz="1150" b="0">
                          <a:solidFill>
                            <a:srgbClr val="1F2A33"/>
                          </a:solidFill>
                          <a:latin typeface="Calibri"/>
                        </a:rPr>
                        <a:t>search_hybrid(query, limit)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18288" bIns="18288"/>
                    <a:lstStyle/>
                    <a:p>
                      <a:r>
                        <a:rPr sz="1150" b="0">
                          <a:solidFill>
                            <a:srgbClr val="1F2A33"/>
                          </a:solidFill>
                          <a:latin typeface="Calibri"/>
                        </a:rPr>
                        <a:t>RRF fusion for mixed queries; the safe default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lIns="73152" rIns="73152" tIns="18288" bIns="18288"/>
                    <a:lstStyle/>
                    <a:p>
                      <a:r>
                        <a:rPr sz="1150" b="0">
                          <a:solidFill>
                            <a:srgbClr val="1F2A33"/>
                          </a:solidFill>
                          <a:latin typeface="Calibri"/>
                        </a:rPr>
                        <a:t>route_query(query)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 lIns="73152" rIns="73152" tIns="18288" bIns="18288"/>
                    <a:lstStyle/>
                    <a:p>
                      <a:r>
                        <a:rPr sz="1150" b="0">
                          <a:solidFill>
                            <a:srgbClr val="1F2A33"/>
                          </a:solidFill>
                          <a:latin typeface="Calibri"/>
                        </a:rPr>
                        <a:t>explains route, tool, confidence and reason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</a:tr>
              <a:tr h="301752">
                <a:tc>
                  <a:txBody>
                    <a:bodyPr lIns="73152" rIns="73152" tIns="18288" bIns="18288"/>
                    <a:lstStyle/>
                    <a:p>
                      <a:r>
                        <a:rPr sz="1150" b="0">
                          <a:solidFill>
                            <a:srgbClr val="1F2A33"/>
                          </a:solidFill>
                          <a:latin typeface="Calibri"/>
                        </a:rPr>
                        <a:t>index_stats()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18288" bIns="18288"/>
                    <a:lstStyle/>
                    <a:p>
                      <a:r>
                        <a:rPr sz="1150" b="0">
                          <a:solidFill>
                            <a:srgbClr val="1F2A33"/>
                          </a:solidFill>
                          <a:latin typeface="Calibri"/>
                        </a:rPr>
                        <a:t>diagnostic: which index is served, collection counts, model, default mode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4480560"/>
            <a:ext cx="11185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F3D5C"/>
                </a:solidFill>
                <a:latin typeface="Calibri"/>
              </a:rPr>
              <a:t>How it connects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818888"/>
            <a:ext cx="1118585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A33"/>
                </a:solidFill>
                <a:latin typeface="Calibri"/>
              </a:rPr>
              <a:t/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300" b="0">
                <a:solidFill>
                  <a:srgbClr val="1F2A33"/>
                </a:solidFill>
                <a:latin typeface="Calibri"/>
              </a:rPr>
              <a:t>•  stdio transport: the client launches the server, there is no service to deploy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300" b="0">
                <a:solidFill>
                  <a:srgbClr val="1F2A33"/>
                </a:solidFill>
                <a:latin typeface="Calibri"/>
              </a:rPr>
              <a:t>•  Routing is code with tests, not instructions inside a prompt: 68/68 on the dev regression set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300" b="0">
                <a:solidFill>
                  <a:srgbClr val="1F2A33"/>
                </a:solidFill>
                <a:latin typeface="Calibri"/>
              </a:rPr>
              <a:t>•  Blind Part-3 set (20 cases, hash fixed): 75% before patches, published as below the 80% gate; 20/20 after, but that set is dev now - a new hold-out is needed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8585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0F3D5C"/>
                </a:solidFill>
                <a:latin typeface="Calibri"/>
              </a:rPr>
              <a:t>Hybrid retrieval: Reciprocal Rank Fusion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MCP + RAG for 1C  ·  Sergey Matyukhin  · 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7255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51560"/>
            <a:ext cx="1118585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500" b="1">
                <a:solidFill>
                  <a:srgbClr val="0F3D5C"/>
                </a:solidFill>
                <a:latin typeface="Calibri"/>
              </a:rPr>
              <a:t>score(d) = Σ 1 / (k + rank_i(d)),   k = 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65960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3D5C"/>
                </a:solidFill>
                <a:latin typeface="Calibri"/>
              </a:rPr>
              <a:t>Why RRF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377440"/>
            <a:ext cx="5394960" cy="2651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A33"/>
                </a:solidFill>
                <a:latin typeface="Calibri"/>
              </a:rPr>
              <a:t/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cosine and BM25 produce scores on incomparable scales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RRF uses ranks only, so there is nothing to calibrate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BM25 catches exact names, cosine catches meaning; fusion keeps both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k = 60 damps the first positions so one source cannot dominate</a:t>
            </a:r>
          </a:p>
        </p:txBody>
      </p:sp>
      <p:sp>
        <p:nvSpPr>
          <p:cNvPr id="9" name="Rectangle 8"/>
          <p:cNvSpPr/>
          <p:nvPr/>
        </p:nvSpPr>
        <p:spPr>
          <a:xfrm>
            <a:off x="6080760" y="2011680"/>
            <a:ext cx="9525" cy="2926080"/>
          </a:xfrm>
          <a:prstGeom prst="rect">
            <a:avLst/>
          </a:prstGeom>
          <a:solidFill>
            <a:srgbClr val="D3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96596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3D5C"/>
                </a:solidFill>
                <a:latin typeface="Calibri"/>
              </a:rPr>
              <a:t>What it bought us (nDCG@10)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377440"/>
            <a:ext cx="5303520" cy="2651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A33"/>
                </a:solidFill>
                <a:latin typeface="Calibri"/>
              </a:rPr>
              <a:t/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Old corpus: hybrid 0.209, vector 0.176 - hybrid was the leader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Current corpus after tokenizer fix: hybrid 0.442, vector 0.331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A weighted Pearson variant reaches 0.383, but needs tuned weights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Latency stays at 40-60 ms per query on CPU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526280"/>
            <a:ext cx="11185855" cy="960120"/>
          </a:xfrm>
          <a:prstGeom prst="roundRect">
            <a:avLst/>
          </a:prstGeom>
          <a:solidFill>
            <a:srgbClr val="EAF2F7"/>
          </a:solidFill>
          <a:ln>
            <a:solidFill>
              <a:srgbClr val="D3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54864" bIns="54864"/>
          <a:lstStyle/>
          <a:p>
            <a:pPr algn="l"/>
            <a:r>
              <a:rPr sz="1300">
                <a:solidFill>
                  <a:srgbClr val="1F2A33"/>
                </a:solidFill>
                <a:latin typeface="Calibri"/>
              </a:rPr>
              <a:t>Example: query "ПередЗаписью". BM25 lifts modules that contain the exact handler name, cosine adds related meaning, and RRF merges the two rankings without a weight search.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8585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0F3D5C"/>
                </a:solidFill>
                <a:latin typeface="Calibri"/>
              </a:rPr>
              <a:t>Negative result: the cross-encoder reranker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MCP + RAG for 1C  ·  Sergey Matyukhin  · 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7255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9728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0F3D5C"/>
                </a:solidFill>
                <a:latin typeface="Calibri"/>
              </a:rPr>
              <a:t>What I built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554480"/>
            <a:ext cx="539496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A33"/>
                </a:solidFill>
                <a:latin typeface="Calibri"/>
              </a:rPr>
              <a:t/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flashrank 0.2.10 with an ONNX cross-encoder on CPU, no PyTorch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ms-marco-MultiBERT-L-12, max_length = 128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Input: top-20 RRF candidates; a passage is the file path plus its code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Lazy model load, cache on disk, one extra stage after fusion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080760" y="1188720"/>
            <a:ext cx="9525" cy="4480560"/>
          </a:xfrm>
          <a:prstGeom prst="rect">
            <a:avLst/>
          </a:prstGeom>
          <a:solidFill>
            <a:srgbClr val="D3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097280"/>
            <a:ext cx="5303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0F3D5C"/>
                </a:solidFill>
                <a:latin typeface="Calibri"/>
              </a:rPr>
              <a:t>What it did to quality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554480"/>
            <a:ext cx="530352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A33"/>
                </a:solidFill>
                <a:latin typeface="Calibri"/>
              </a:rPr>
              <a:t/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400" b="0">
                <a:solidFill>
                  <a:srgbClr val="A83A3A"/>
                </a:solidFill>
                <a:latin typeface="Calibri"/>
              </a:rPr>
              <a:t>•  Old corpus: 0.209 → 0.069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400" b="0">
                <a:solidFill>
                  <a:srgbClr val="A83A3A"/>
                </a:solidFill>
                <a:latin typeface="Calibri"/>
              </a:rPr>
              <a:t>•  Current corpus (old tokenizer): 0.117 against 0.301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Latency ~2.4 s per query on CPU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300" b="0">
                <a:solidFill>
                  <a:srgbClr val="1F2A33"/>
                </a:solidFill>
                <a:latin typeface="Calibri"/>
              </a:rPr>
              <a:t>•  Hypothesis: trained on web passages; BSL is long, repetitive, identifier-heavy code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400" b="0">
                <a:solidFill>
                  <a:srgbClr val="0F3D5C"/>
                </a:solidFill>
                <a:latin typeface="Calibri"/>
              </a:rPr>
              <a:t>•  Decision: kept as an option, not the default (ADR 0002)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526280"/>
            <a:ext cx="11185855" cy="868680"/>
          </a:xfrm>
          <a:prstGeom prst="roundRect">
            <a:avLst/>
          </a:prstGeom>
          <a:solidFill>
            <a:srgbClr val="EAF2F7"/>
          </a:solidFill>
          <a:ln>
            <a:solidFill>
              <a:srgbClr val="D3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54864" bIns="54864"/>
          <a:lstStyle/>
          <a:p>
            <a:pPr algn="l"/>
            <a:r>
              <a:rPr sz="1300">
                <a:solidFill>
                  <a:srgbClr val="0F3D5C"/>
                </a:solidFill>
                <a:latin typeface="Calibri"/>
              </a:rPr>
              <a:t>The losing configuration stays in the report. Nothing was tuned until the numbers looked good.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8585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0F3D5C"/>
                </a:solidFill>
                <a:latin typeface="Calibri"/>
              </a:rPr>
              <a:t>How quality was measured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MCP + RAG for 1C  ·  Sergey Matyukhin  · 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7255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9728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0F3D5C"/>
                </a:solidFill>
                <a:latin typeface="Calibri"/>
              </a:rPr>
              <a:t>Gold-set v2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554480"/>
            <a:ext cx="548640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1F2A33"/>
                </a:solidFill>
                <a:latin typeface="Calibri"/>
              </a:rPr>
              <a:t/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70 natural-language queries: 30 curated plus 40 generated over configuration objects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Three query types: exact, semantic, trap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Relevance is scored at the source-file level, not per chunk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Duplicate chunks from one file are collapsed before scoring (ADR 0004)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Metrics: Hit@1, MRR@10, nDCG@10, Recall@10; four independent runs, a fresh process each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1188720"/>
            <a:ext cx="9525" cy="4343400"/>
          </a:xfrm>
          <a:prstGeom prst="rect">
            <a:avLst/>
          </a:prstGeom>
          <a:solidFill>
            <a:srgbClr val="D3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09728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0F3D5C"/>
                </a:solidFill>
                <a:latin typeface="Calibri"/>
              </a:rPr>
              <a:t>Why this way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1554480"/>
            <a:ext cx="49377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1F2A33"/>
                </a:solidFill>
                <a:latin typeface="Calibri"/>
              </a:rPr>
              <a:t/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Chunk-level ground truth scored a correct file as a miss: false zeros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File-level relevance stays stable when the chunking changes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Recall@k is normalised by min(|relevant|, k)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std of 0.023 for vector means the result is reproducible, not a lucky run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Each run reloads the index: the numbers are means, not a best-of selection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257800"/>
            <a:ext cx="11185855" cy="777240"/>
          </a:xfrm>
          <a:prstGeom prst="roundRect">
            <a:avLst/>
          </a:prstGeom>
          <a:solidFill>
            <a:srgbClr val="EAF2F7"/>
          </a:solidFill>
          <a:ln>
            <a:solidFill>
              <a:srgbClr val="D3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54864" bIns="54864"/>
          <a:lstStyle/>
          <a:p>
            <a:pPr algn="l"/>
            <a:r>
              <a:rPr sz="1300">
                <a:solidFill>
                  <a:srgbClr val="1F2A33"/>
                </a:solidFill>
                <a:latin typeface="Calibri"/>
              </a:rPr>
              <a:t>Every number in this talk is a mean of four independent runs, reported together with its standard deviation.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8585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0F3D5C"/>
                </a:solidFill>
                <a:latin typeface="Calibri"/>
              </a:rPr>
              <a:t>Results: gold-set v2, 70 queries, k =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MCP + RAG for 1C  ·  Sergey Matyukhin  · 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7255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051560"/>
          <a:ext cx="11185852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6463"/>
                <a:gridCol w="2074795"/>
                <a:gridCol w="2074795"/>
                <a:gridCol w="2165004"/>
                <a:gridCol w="2074795"/>
              </a:tblGrid>
              <a:tr h="335280">
                <a:tc>
                  <a:txBody>
                    <a:bodyPr lIns="73152" rIns="73152" tIns="18288" bIns="18288"/>
                    <a:lstStyle/>
                    <a:p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Configuration</a:t>
                      </a:r>
                    </a:p>
                  </a:txBody>
                  <a:tcPr anchor="ctr">
                    <a:solidFill>
                      <a:srgbClr val="0F3D5C"/>
                    </a:solidFill>
                  </a:tcPr>
                </a:tc>
                <a:tc>
                  <a:txBody>
                    <a:bodyPr lIns="73152" rIns="73152" tIns="18288" bIns="18288"/>
                    <a:lstStyle/>
                    <a:p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Hit@1</a:t>
                      </a:r>
                    </a:p>
                  </a:txBody>
                  <a:tcPr anchor="ctr">
                    <a:solidFill>
                      <a:srgbClr val="0F3D5C"/>
                    </a:solidFill>
                  </a:tcPr>
                </a:tc>
                <a:tc>
                  <a:txBody>
                    <a:bodyPr lIns="73152" rIns="73152" tIns="18288" bIns="18288"/>
                    <a:lstStyle/>
                    <a:p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MRR@10</a:t>
                      </a:r>
                    </a:p>
                  </a:txBody>
                  <a:tcPr anchor="ctr">
                    <a:solidFill>
                      <a:srgbClr val="0F3D5C"/>
                    </a:solidFill>
                  </a:tcPr>
                </a:tc>
                <a:tc>
                  <a:txBody>
                    <a:bodyPr lIns="73152" rIns="73152" tIns="18288" bIns="18288"/>
                    <a:lstStyle/>
                    <a:p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nDCG@10</a:t>
                      </a:r>
                    </a:p>
                  </a:txBody>
                  <a:tcPr anchor="ctr">
                    <a:solidFill>
                      <a:srgbClr val="0F3D5C"/>
                    </a:solidFill>
                  </a:tcPr>
                </a:tc>
                <a:tc>
                  <a:txBody>
                    <a:bodyPr lIns="73152" rIns="73152" tIns="18288" bIns="18288"/>
                    <a:lstStyle/>
                    <a:p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Recall@10</a:t>
                      </a:r>
                    </a:p>
                  </a:txBody>
                  <a:tcPr anchor="ctr">
                    <a:solidFill>
                      <a:srgbClr val="0F3D5C"/>
                    </a:solidFill>
                  </a:tcPr>
                </a:tc>
              </a:tr>
              <a:tr h="335280">
                <a:tc>
                  <a:txBody>
                    <a:bodyPr lIns="73152" rIns="73152" tIns="18288" bIns="18288"/>
                    <a:lstStyle/>
                    <a:p>
                      <a:r>
                        <a:rPr sz="1080" b="0">
                          <a:solidFill>
                            <a:srgbClr val="1F2A33"/>
                          </a:solidFill>
                          <a:latin typeface="Calibri"/>
                        </a:rPr>
                        <a:t>vector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18288" bIns="18288"/>
                    <a:lstStyle/>
                    <a:p>
                      <a:r>
                        <a:rPr sz="1080" b="0">
                          <a:solidFill>
                            <a:srgbClr val="1F2A33"/>
                          </a:solidFill>
                          <a:latin typeface="Calibri"/>
                        </a:rPr>
                        <a:t>0.157 ± 0.018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18288" bIns="18288"/>
                    <a:lstStyle/>
                    <a:p>
                      <a:r>
                        <a:rPr sz="1080" b="0">
                          <a:solidFill>
                            <a:srgbClr val="1F2A33"/>
                          </a:solidFill>
                          <a:latin typeface="Calibri"/>
                        </a:rPr>
                        <a:t>0.266 ± 0.026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18288" bIns="18288"/>
                    <a:lstStyle/>
                    <a:p>
                      <a:r>
                        <a:rPr sz="1080" b="0">
                          <a:solidFill>
                            <a:srgbClr val="1F2A33"/>
                          </a:solidFill>
                          <a:latin typeface="Calibri"/>
                        </a:rPr>
                        <a:t>0.331 ± 0.028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18288" bIns="18288"/>
                    <a:lstStyle/>
                    <a:p>
                      <a:r>
                        <a:rPr sz="1080" b="0">
                          <a:solidFill>
                            <a:srgbClr val="1F2A33"/>
                          </a:solidFill>
                          <a:latin typeface="Calibri"/>
                        </a:rPr>
                        <a:t>0.511 ± 0.044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 lIns="73152" rIns="73152" tIns="18288" bIns="18288"/>
                    <a:lstStyle/>
                    <a:p>
                      <a:r>
                        <a:rPr sz="1080" b="0">
                          <a:solidFill>
                            <a:srgbClr val="1F2A33"/>
                          </a:solidFill>
                          <a:latin typeface="Calibri"/>
                        </a:rPr>
                        <a:t>pearson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 lIns="73152" rIns="73152" tIns="18288" bIns="18288"/>
                    <a:lstStyle/>
                    <a:p>
                      <a:r>
                        <a:rPr sz="1080" b="0">
                          <a:solidFill>
                            <a:srgbClr val="1F2A33"/>
                          </a:solidFill>
                          <a:latin typeface="Calibri"/>
                        </a:rPr>
                        <a:t>0.207 ± 0.038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 lIns="73152" rIns="73152" tIns="18288" bIns="18288"/>
                    <a:lstStyle/>
                    <a:p>
                      <a:r>
                        <a:rPr sz="1080" b="0">
                          <a:solidFill>
                            <a:srgbClr val="1F2A33"/>
                          </a:solidFill>
                          <a:latin typeface="Calibri"/>
                        </a:rPr>
                        <a:t>0.313 ± 0.039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 lIns="73152" rIns="73152" tIns="18288" bIns="18288"/>
                    <a:lstStyle/>
                    <a:p>
                      <a:r>
                        <a:rPr sz="1080" b="0">
                          <a:solidFill>
                            <a:srgbClr val="1F2A33"/>
                          </a:solidFill>
                          <a:latin typeface="Calibri"/>
                        </a:rPr>
                        <a:t>0.383 ± 0.040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 lIns="73152" rIns="73152" tIns="18288" bIns="18288"/>
                    <a:lstStyle/>
                    <a:p>
                      <a:r>
                        <a:rPr sz="1080" b="0">
                          <a:solidFill>
                            <a:srgbClr val="1F2A33"/>
                          </a:solidFill>
                          <a:latin typeface="Calibri"/>
                        </a:rPr>
                        <a:t>0.562 ± 0.053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</a:tr>
              <a:tr h="335280">
                <a:tc>
                  <a:txBody>
                    <a:bodyPr lIns="73152" rIns="73152" tIns="18288" bIns="18288"/>
                    <a:lstStyle/>
                    <a:p>
                      <a:r>
                        <a:rPr sz="1080" b="0">
                          <a:solidFill>
                            <a:srgbClr val="1F2A33"/>
                          </a:solidFill>
                          <a:latin typeface="Calibri"/>
                        </a:rPr>
                        <a:t>hybrid (RRF)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18288" bIns="18288"/>
                    <a:lstStyle/>
                    <a:p>
                      <a:r>
                        <a:rPr sz="1080" b="0">
                          <a:solidFill>
                            <a:srgbClr val="1F2A33"/>
                          </a:solidFill>
                          <a:latin typeface="Calibri"/>
                        </a:rPr>
                        <a:t>0.221 ± 0.008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18288" bIns="18288"/>
                    <a:lstStyle/>
                    <a:p>
                      <a:r>
                        <a:rPr sz="1080" b="0">
                          <a:solidFill>
                            <a:srgbClr val="1F2A33"/>
                          </a:solidFill>
                          <a:latin typeface="Calibri"/>
                        </a:rPr>
                        <a:t>0.368 ± 0.010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18288" bIns="18288"/>
                    <a:lstStyle/>
                    <a:p>
                      <a:r>
                        <a:rPr sz="1080" b="0">
                          <a:solidFill>
                            <a:srgbClr val="1F2A33"/>
                          </a:solidFill>
                          <a:latin typeface="Calibri"/>
                        </a:rPr>
                        <a:t>0.442 ± 0.012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18288" bIns="18288"/>
                    <a:lstStyle/>
                    <a:p>
                      <a:r>
                        <a:rPr sz="1080" b="0">
                          <a:solidFill>
                            <a:srgbClr val="1F2A33"/>
                          </a:solidFill>
                          <a:latin typeface="Calibri"/>
                        </a:rPr>
                        <a:t>0.652 ± 0.024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 lIns="73152" rIns="73152" tIns="18288" bIns="18288"/>
                    <a:lstStyle/>
                    <a:p>
                      <a:r>
                        <a:rPr sz="1080" b="0">
                          <a:solidFill>
                            <a:srgbClr val="1F2A33"/>
                          </a:solidFill>
                          <a:latin typeface="Calibri"/>
                        </a:rPr>
                        <a:t>lexical (BM25)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 lIns="73152" rIns="73152" tIns="18288" bIns="18288"/>
                    <a:lstStyle/>
                    <a:p>
                      <a:r>
                        <a:rPr sz="1080" b="0">
                          <a:solidFill>
                            <a:srgbClr val="1F2A33"/>
                          </a:solidFill>
                          <a:latin typeface="Calibri"/>
                        </a:rPr>
                        <a:t>0.271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 lIns="73152" rIns="73152" tIns="18288" bIns="18288"/>
                    <a:lstStyle/>
                    <a:p>
                      <a:r>
                        <a:rPr sz="1080" b="0">
                          <a:solidFill>
                            <a:srgbClr val="1F2A33"/>
                          </a:solidFill>
                          <a:latin typeface="Calibri"/>
                        </a:rPr>
                        <a:t>0.355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 lIns="73152" rIns="73152" tIns="18288" bIns="18288"/>
                    <a:lstStyle/>
                    <a:p>
                      <a:r>
                        <a:rPr sz="1080" b="0">
                          <a:solidFill>
                            <a:srgbClr val="1F2A33"/>
                          </a:solidFill>
                          <a:latin typeface="Calibri"/>
                        </a:rPr>
                        <a:t>0.426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 lIns="73152" rIns="73152" tIns="18288" bIns="18288"/>
                    <a:lstStyle/>
                    <a:p>
                      <a:r>
                        <a:rPr sz="1080" b="0">
                          <a:solidFill>
                            <a:srgbClr val="1F2A33"/>
                          </a:solidFill>
                          <a:latin typeface="Calibri"/>
                        </a:rPr>
                        <a:t>0.571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</a:tr>
              <a:tr h="335280">
                <a:tc>
                  <a:txBody>
                    <a:bodyPr lIns="73152" rIns="73152" tIns="18288" bIns="18288"/>
                    <a:lstStyle/>
                    <a:p>
                      <a:r>
                        <a:rPr sz="1080" b="0">
                          <a:solidFill>
                            <a:srgbClr val="1F2A33"/>
                          </a:solidFill>
                          <a:latin typeface="Calibri"/>
                        </a:rPr>
                        <a:t>hybrid + rerank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18288" bIns="18288"/>
                    <a:lstStyle/>
                    <a:p>
                      <a:r>
                        <a:rPr sz="1080" b="0">
                          <a:solidFill>
                            <a:srgbClr val="1F2A33"/>
                          </a:solidFill>
                          <a:latin typeface="Calibri"/>
                        </a:rPr>
                        <a:t>0.086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18288" bIns="18288"/>
                    <a:lstStyle/>
                    <a:p>
                      <a:r>
                        <a:rPr sz="1080" b="0">
                          <a:solidFill>
                            <a:srgbClr val="1F2A33"/>
                          </a:solidFill>
                          <a:latin typeface="Calibri"/>
                        </a:rPr>
                        <a:t>0.102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18288" bIns="18288"/>
                    <a:lstStyle/>
                    <a:p>
                      <a:r>
                        <a:rPr sz="1080" b="0">
                          <a:solidFill>
                            <a:srgbClr val="1F2A33"/>
                          </a:solidFill>
                          <a:latin typeface="Calibri"/>
                        </a:rPr>
                        <a:t>0.117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18288" bIns="18288"/>
                    <a:lstStyle/>
                    <a:p>
                      <a:r>
                        <a:rPr sz="1080" b="0">
                          <a:solidFill>
                            <a:srgbClr val="1F2A33"/>
                          </a:solidFill>
                          <a:latin typeface="Calibri"/>
                        </a:rPr>
                        <a:t>0.157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502920" y="3200400"/>
          <a:ext cx="521208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035040" y="3017520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F3D5C"/>
                </a:solidFill>
                <a:latin typeface="Calibri"/>
              </a:rPr>
              <a:t>Validation: v2 dev and independent v3 hold-out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3273552"/>
            <a:ext cx="5669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0">
                <a:solidFill>
                  <a:srgbClr val="1F2A33"/>
                </a:solidFill>
                <a:latin typeface="Calibri"/>
              </a:rPr>
              <a:t>v2 (4 runs): hybrid 0.442 ± 0.012 vs vector 0.331 ± 0.028
Δ = −0.112, CI [−0.184; −0.038], p = 0.0037 — hybrid better
v3 (3 runs, 71 code): hybrid 0.217 vs vector 0.208, p = 0.635
hybrid leads on dev, not worse on v3; default confirmed.
ADR 0009 rejected; fix documented in ADR 0010.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4224528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F3D5C"/>
                </a:solidFill>
                <a:latin typeface="Calibri"/>
              </a:rPr>
              <a:t>Why the leader flipped: BM25 tokenizer (ADR 0010)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035040" y="4480560"/>
          <a:ext cx="5650992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5496"/>
                <a:gridCol w="1412748"/>
                <a:gridCol w="1412748"/>
              </a:tblGrid>
              <a:tr h="217170">
                <a:tc>
                  <a:txBody>
                    <a:bodyPr lIns="73152" rIns="73152" tIns="18288" bIns="18288"/>
                    <a:lstStyle/>
                    <a:p>
                      <a:r>
                        <a:rPr sz="960" b="1">
                          <a:solidFill>
                            <a:srgbClr val="FFFFFF"/>
                          </a:solidFill>
                          <a:latin typeface="Calibri"/>
                        </a:rPr>
                        <a:t>v2 nDCG@10</a:t>
                      </a:r>
                    </a:p>
                  </a:txBody>
                  <a:tcPr anchor="ctr">
                    <a:solidFill>
                      <a:srgbClr val="0F3D5C"/>
                    </a:solidFill>
                  </a:tcPr>
                </a:tc>
                <a:tc>
                  <a:txBody>
                    <a:bodyPr lIns="73152" rIns="73152" tIns="18288" bIns="18288"/>
                    <a:lstStyle/>
                    <a:p>
                      <a:r>
                        <a:rPr sz="960" b="1">
                          <a:solidFill>
                            <a:srgbClr val="FFFFFF"/>
                          </a:solidFill>
                          <a:latin typeface="Calibri"/>
                        </a:rPr>
                        <a:t>before</a:t>
                      </a:r>
                    </a:p>
                  </a:txBody>
                  <a:tcPr anchor="ctr">
                    <a:solidFill>
                      <a:srgbClr val="0F3D5C"/>
                    </a:solidFill>
                  </a:tcPr>
                </a:tc>
                <a:tc>
                  <a:txBody>
                    <a:bodyPr lIns="73152" rIns="73152" tIns="18288" bIns="18288"/>
                    <a:lstStyle/>
                    <a:p>
                      <a:r>
                        <a:rPr sz="960" b="1">
                          <a:solidFill>
                            <a:srgbClr val="FFFFFF"/>
                          </a:solidFill>
                          <a:latin typeface="Calibri"/>
                        </a:rPr>
                        <a:t>after</a:t>
                      </a:r>
                    </a:p>
                  </a:txBody>
                  <a:tcPr anchor="ctr">
                    <a:solidFill>
                      <a:srgbClr val="0F3D5C"/>
                    </a:solidFill>
                  </a:tcPr>
                </a:tc>
              </a:tr>
              <a:tr h="217170">
                <a:tc>
                  <a:txBody>
                    <a:bodyPr lIns="73152" rIns="73152" tIns="18288" bIns="18288"/>
                    <a:lstStyle/>
                    <a:p>
                      <a:r>
                        <a:rPr sz="960" b="0">
                          <a:solidFill>
                            <a:srgbClr val="1F2A33"/>
                          </a:solidFill>
                          <a:latin typeface="Calibri"/>
                        </a:rPr>
                        <a:t>vector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18288" bIns="18288"/>
                    <a:lstStyle/>
                    <a:p>
                      <a:r>
                        <a:rPr sz="960" b="0">
                          <a:solidFill>
                            <a:srgbClr val="1F2A33"/>
                          </a:solidFill>
                          <a:latin typeface="Calibri"/>
                        </a:rPr>
                        <a:t>0.339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18288" bIns="18288"/>
                    <a:lstStyle/>
                    <a:p>
                      <a:r>
                        <a:rPr sz="960" b="0">
                          <a:solidFill>
                            <a:srgbClr val="1F2A33"/>
                          </a:solidFill>
                          <a:latin typeface="Calibri"/>
                        </a:rPr>
                        <a:t>0.331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17170">
                <a:tc>
                  <a:txBody>
                    <a:bodyPr lIns="73152" rIns="73152" tIns="18288" bIns="18288"/>
                    <a:lstStyle/>
                    <a:p>
                      <a:r>
                        <a:rPr sz="960" b="0">
                          <a:solidFill>
                            <a:srgbClr val="1F2A33"/>
                          </a:solidFill>
                          <a:latin typeface="Calibri"/>
                        </a:rPr>
                        <a:t>hybrid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 lIns="73152" rIns="73152" tIns="18288" bIns="18288"/>
                    <a:lstStyle/>
                    <a:p>
                      <a:r>
                        <a:rPr sz="960" b="0">
                          <a:solidFill>
                            <a:srgbClr val="1F2A33"/>
                          </a:solidFill>
                          <a:latin typeface="Calibri"/>
                        </a:rPr>
                        <a:t>0.301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 lIns="73152" rIns="73152" tIns="18288" bIns="18288"/>
                    <a:lstStyle/>
                    <a:p>
                      <a:r>
                        <a:rPr sz="960" b="0">
                          <a:solidFill>
                            <a:srgbClr val="1F2A33"/>
                          </a:solidFill>
                          <a:latin typeface="Calibri"/>
                        </a:rPr>
                        <a:t>0.442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</a:tr>
              <a:tr h="217170">
                <a:tc>
                  <a:txBody>
                    <a:bodyPr lIns="73152" rIns="73152" tIns="18288" bIns="18288"/>
                    <a:lstStyle/>
                    <a:p>
                      <a:r>
                        <a:rPr sz="960" b="0">
                          <a:solidFill>
                            <a:srgbClr val="1F2A33"/>
                          </a:solidFill>
                          <a:latin typeface="Calibri"/>
                        </a:rPr>
                        <a:t>lexical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18288" bIns="18288"/>
                    <a:lstStyle/>
                    <a:p>
                      <a:r>
                        <a:rPr sz="960" b="0">
                          <a:solidFill>
                            <a:srgbClr val="1F2A33"/>
                          </a:solidFill>
                          <a:latin typeface="Calibri"/>
                        </a:rPr>
                        <a:t>0.116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18288" bIns="18288"/>
                    <a:lstStyle/>
                    <a:p>
                      <a:r>
                        <a:rPr sz="960" b="0">
                          <a:solidFill>
                            <a:srgbClr val="1F2A33"/>
                          </a:solidFill>
                          <a:latin typeface="Calibri"/>
                        </a:rPr>
                        <a:t>0.426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035040" y="5440680"/>
            <a:ext cx="5650992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40" b="0">
                <a:solidFill>
                  <a:srgbClr val="1F2A33"/>
                </a:solidFill>
                <a:latin typeface="Calibri"/>
              </a:rPr>
              <a:t>CamelCase split: «заказ покупателя» now matches ЗаказПокупателя. The old 2×2 ablation was measured with the defective tokenizer and is void.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5321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All CPU modes: 40-60 ms per query. Cross-encoder rerank: ~2.4 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8585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0F3D5C"/>
                </a:solidFill>
                <a:latin typeface="Calibri"/>
              </a:rPr>
              <a:t>Decisions and 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MCP + RAG for 1C  ·  Sergey Matyukhin  · 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7255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51560"/>
            <a:ext cx="5669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3D5C"/>
                </a:solidFill>
                <a:latin typeface="Calibri"/>
              </a:rPr>
              <a:t>Decision log (ADR)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481328"/>
            <a:ext cx="557784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A33"/>
                </a:solidFill>
                <a:latin typeface="Calibri"/>
              </a:rPr>
              <a:t/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300" b="0">
                <a:solidFill>
                  <a:srgbClr val="1F2A33"/>
                </a:solidFill>
                <a:latin typeface="Calibri"/>
              </a:rPr>
              <a:t>•  0001: RRF over weighted Pearson - better ranking, no weight calibration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300" b="0">
                <a:solidFill>
                  <a:srgbClr val="1F2A33"/>
                </a:solidFill>
                <a:latin typeface="Calibri"/>
              </a:rPr>
              <a:t>•  0002: reranker stays optional - it hurts quality on BSL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300" b="0">
                <a:solidFill>
                  <a:srgbClr val="1F2A33"/>
                </a:solidFill>
                <a:latin typeface="Calibri"/>
              </a:rPr>
              <a:t>•  0003: file-level relevance - stable, reproducible metrics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300" b="0">
                <a:solidFill>
                  <a:srgbClr val="1F2A33"/>
                </a:solidFill>
                <a:latin typeface="Calibri"/>
              </a:rPr>
              <a:t>•  0004: deduplicated metrics - one file counted once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300" b="0">
                <a:solidFill>
                  <a:srgbClr val="1F2A33"/>
                </a:solidFill>
                <a:latin typeface="Calibri"/>
              </a:rPr>
              <a:t>•  0005: gold-set v2 - natural-language queries, not identifier templates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300" b="0">
                <a:solidFill>
                  <a:srgbClr val="1F2A33"/>
                </a:solidFill>
                <a:latin typeface="Calibri"/>
              </a:rPr>
              <a:t>•  0006: routing as tested code - tool choice is explainable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300" b="0">
                <a:solidFill>
                  <a:srgbClr val="1F2A33"/>
                </a:solidFill>
                <a:latin typeface="Calibri"/>
              </a:rPr>
              <a:t>•  0007: procedure chunking - the 512-token overflow is gone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300" b="0">
                <a:solidFill>
                  <a:srgbClr val="1F2A33"/>
                </a:solidFill>
                <a:latin typeface="Calibri"/>
              </a:rPr>
              <a:t>•  0008: XML metadata - BM25 Hit@3 93.0% → 99.7%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300" b="0">
                <a:solidFill>
                  <a:srgbClr val="1F2A33"/>
                </a:solidFill>
                <a:latin typeface="Calibri"/>
              </a:rPr>
              <a:t>•  0009: corpus change - leader shift rejected (tokenizer defect)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300" b="0">
                <a:solidFill>
                  <a:srgbClr val="1F2A33"/>
                </a:solidFill>
                <a:latin typeface="Calibri"/>
              </a:rPr>
              <a:t>•  0010: CamelCase-aware BM25 - hybrid restored (0.442 vs 0.331)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1188720"/>
            <a:ext cx="9525" cy="4389120"/>
          </a:xfrm>
          <a:prstGeom prst="rect">
            <a:avLst/>
          </a:prstGeom>
          <a:solidFill>
            <a:srgbClr val="D3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05156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3D5C"/>
                </a:solidFill>
                <a:latin typeface="Calibri"/>
              </a:rPr>
              <a:t>Limitations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1481328"/>
            <a:ext cx="493776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A33"/>
                </a:solidFill>
                <a:latin typeface="Calibri"/>
              </a:rPr>
              <a:t/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HNSW is rebuilt on start: ~60-70 s cold start, a workaround for a known Chroma issue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Gold-set is partly synthetic; absolute metrics are modest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A single writer; no parallel indexing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No incremental indexing: a full rebuild takes hours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400" b="0">
                <a:solidFill>
                  <a:srgbClr val="1F2A33"/>
                </a:solidFill>
                <a:latin typeface="Calibri"/>
              </a:rPr>
              <a:t>•  v3 hold-out: router 58/100; quoted-name lexical cases fall back to hybrid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92040"/>
            <a:ext cx="11185855" cy="777240"/>
          </a:xfrm>
          <a:prstGeom prst="roundRect">
            <a:avLst/>
          </a:prstGeom>
          <a:solidFill>
            <a:srgbClr val="EAF2F7"/>
          </a:solidFill>
          <a:ln>
            <a:solidFill>
              <a:srgbClr val="D3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54864" bIns="54864"/>
          <a:lstStyle/>
          <a:p>
            <a:pPr algn="l"/>
            <a:r>
              <a:rPr sz="1300">
                <a:solidFill>
                  <a:srgbClr val="1F2A33"/>
                </a:solidFill>
                <a:latin typeface="Calibri"/>
              </a:rPr>
              <a:t>ADR 0009 is rejected: the leader shift was a BM25 tokenizer defect. Default hybrid confirmed by ADR 0010.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8585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0F3D5C"/>
                </a:solidFill>
                <a:latin typeface="Calibri"/>
              </a:rPr>
              <a:t>What is done, and what comes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MCP + RAG for 1C  ·  Sergey Matyukhin  · 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7255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B6770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51560"/>
            <a:ext cx="1118585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3D5C"/>
                </a:solidFill>
                <a:latin typeface="Calibri"/>
              </a:rPr>
              <a:t>What is done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463040"/>
            <a:ext cx="11185855" cy="2514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1F2A33"/>
                </a:solidFill>
                <a:latin typeface="Calibri"/>
              </a:rPr>
              <a:t/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MCP server with 9 tools over a 179,586-chunk local index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Retrieval: e5 cosine + global BM25 + RRF + an optional cross-encoder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Router as a tested contract: 68/68 on the dev regression set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Evaluation loop: gold-set v2, file-level metrics, 4 runs, mean ± std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Engineering: 74 tests, ruff + mypy (22 modules) + complexity gate (avg 4.37 A), ADR log, CI green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069080"/>
            <a:ext cx="1118585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3D5C"/>
                </a:solidFill>
                <a:latin typeface="Calibri"/>
              </a:rPr>
              <a:t>What comes next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480560"/>
            <a:ext cx="1118585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1F2A33"/>
                </a:solidFill>
                <a:latin typeface="Calibri"/>
              </a:rPr>
              <a:t/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Re-measure metadata and symbolic ablation with the fixed tokenizer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A new hold-out for the router; incremental indexing; get_metadata and find_callers</a:t>
            </a:r>
          </a:p>
          <a:p>
            <a:pPr marL="240000" indent="-240000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</a:pPr>
            <a:r>
              <a:rPr sz="1500" b="0">
                <a:solidFill>
                  <a:srgbClr val="1F2A33"/>
                </a:solidFill>
                <a:latin typeface="Calibri"/>
              </a:rPr>
              <a:t>•  Code-oriented embeddings; a code reranker; 100+ manually labelled queries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943600"/>
            <a:ext cx="1118585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B7FAE"/>
                </a:solidFill>
                <a:latin typeface="Calibri"/>
              </a:rPr>
              <a:t>github.com/Smaturus/1c-mcp-rag-search  ·  smaturus@gmail.com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