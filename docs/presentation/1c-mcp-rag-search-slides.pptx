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nDCG@10 по конфигурациям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B7FAE"/>
            </a:solidFill>
            <a:ln w="0">
              <a:noFill/>
            </a:ln>
          </c:spPr>
          <c:invertIfNegative val="0"/>
          <c:dLbls>
            <c:numFmt formatCode="0.000" sourceLinked="0"/>
            <c:txPr>
              <a:bodyPr wrap="square"/>
              <a:lstStyle/>
              <a:p>
                <a:pPr>
                  <a:defRPr sz="1100" b="0" u="none" strike="noStrik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vector</c:v>
                </c:pt>
                <c:pt idx="1">
                  <c:v>pearson</c:v>
                </c:pt>
                <c:pt idx="2">
                  <c:v>hybrid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0.331</c:v>
                </c:pt>
                <c:pt idx="1">
                  <c:v>0.383</c:v>
                </c:pt>
                <c:pt idx="2">
                  <c:v>0.442</c:v>
                </c:pt>
              </c:numCache>
            </c:numRef>
          </c:val>
        </c:ser>
        <c:gapWidth val="150"/>
        <c:overlap val="0"/>
        <c:axId val="3010436"/>
        <c:axId val="38286771"/>
      </c:barChart>
      <c:catAx>
        <c:axId val="3010436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38286771"/>
        <c:crosses val="autoZero"/>
        <c:auto val="1"/>
        <c:lblAlgn val="ctr"/>
        <c:lblOffset val="100"/>
        <c:noMultiLvlLbl val="0"/>
      </c:catAx>
      <c:valAx>
        <c:axId val="38286771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3010436"/>
        <c:crosses val="autoZero"/>
        <c:crossBetween val="between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перемещения страницы щёлкните мышью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BF3C9DB-8D91-4CAC-A026-E20C9F86B1C7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Учебный и портфолио-проект: свой MCP-сервер и RAG-контур для поиска по выгрузке 1С. Главная идея: не просто «поиск работает», а измеренное качество и документированные решения.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1A17E48-F8FE-47EA-AF34-271B5E2F7F0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Формулирую задачу как инженерную: нужен инструмент для агента и способ доказать, что он ищет хорошо. Поэтому в проекте две равные части — MCP и retrieval-пайплайн с eval.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E05F40E-AF7A-48E3-B50C-78755EA6F0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Ключевые числа проекта: 179 586 чанков — 154 560 кода (процедурная нарезка) и 25 026 метаданных (XML). После фикса BM25 лидер — hybrid 0.442 (ADR 0010).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5EA530-90BD-42FF-9D04-1F132D415AD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Два контура: офлайн индексация и онлайн поиск. Важно: BM25 — глобальный индекс по всем чанкам, а не переранжирование кандидатов cosine, иначе RRF был бы бессмысленным.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1490E8F-CB2B-49D4-B0E1-721F686745E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Два независимых индекса: семантика и лексика. BM25 собирается отдельным скриптом, не входит в git и пересобирается за 22 секунды.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6D7D1B3-08F7-465F-B060-F6CD5A28BFB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Девять инструментов. Ключевое отличие от обычного MCP-сервера — явный контракт маршрутизации: выбор инструмента объясним и проверяется тестами.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91BF121-B19D-462B-9B3E-0E82A8CB920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RRF — центральное решение проекта. Складываем не скоры, а позиции; поэтому не нужно подбирать веса. На прежнем корпусе прирост был +19 %; «смена лидера» оказалась дефектом BM25 и отклонена (ADR 0010).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C23FF7A-BC18-4D73-961B-5F89F20A54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Это честный отрицательный результат: на старом корпусе reranker ухудшал качество. После фикса BM25 он не перезамерялся и остаётся опцией.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5D4526B-7A9B-4131-A4A5-438B940FD5B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Методика важнее цифр: мы показываем, как посчитаны метрики и какой у них разброс. Первая версия gold-set была с дефектом — исправили и задокументировали в ADR 0003.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D6CA6C4-D23F-499F-8C8C-1DA41B55EC8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Таблица и график после фикса BM25. Hybrid впереди (0.442); paired-тест значим (p = 0.0037). Reranker остаётся опцией: на старом корпусе проигрывал, после фикса не перезамерялся.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33A4FA0-479C-4EE1-8B7F-A7B448F3925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Открытость про ограничения — сильная сторона: видно, что мы понимаем границы решения.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67992E-BE73-4EA7-BDF4-820CBC87C67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Финальный слайд: что сделано, что дальше, где посмотреть код. Главный вывод — измеримость: каждое решение подтверждено цифрами и записано в ADR.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F6C3D70-47B4-443D-8450-53E62A668B2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A7F6641-4539-4D58-9092-8A738B8944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2E10A1-A7C3-4D00-BEC0-3CF1E6AFB0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7857B2-5457-43AD-A1E3-0A8754620E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0F720C1-D8B0-4CE6-BE73-44599D9277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493DF6-B469-4F9B-91C7-FC4E7FA216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65FD74-1B9D-416A-8312-EE34C4AFD8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6D5562-EBD9-4AEB-95FA-76CC1B6B91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5E5890-BCC2-4B32-A962-1DFA5EB1D5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3C516CD-5ADC-48EF-B68B-2F6A9580C3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E57905-A0B7-4FCE-BF88-7063DA9B58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6E7E57-4E41-4C21-A92C-23BB0745EF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502920" y="1737360"/>
            <a:ext cx="111855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5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MCP + RAG для 1С</a:t>
            </a:r>
            <a:endParaRPr lang="ru-RU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502920" y="2880360"/>
            <a:ext cx="111855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2200" b="0" u="none" strike="noStrike">
                <a:solidFill>
                  <a:srgbClr val="CFE4EF"/>
                </a:solidFill>
                <a:effectLst/>
                <a:uFillTx/>
                <a:latin typeface="Calibri"/>
              </a:rPr>
              <a:t>Локальный поиск по BSL-коду и метаданным: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lang="en-US" sz="2200" b="0" u="none" strike="noStrike">
                <a:solidFill>
                  <a:srgbClr val="CFE4EF"/>
                </a:solidFill>
                <a:effectLst/>
                <a:uFillTx/>
                <a:latin typeface="Calibri"/>
              </a:rPr>
              <a:t>гибрид BM25 + cosine через RRF и честная оценка качества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4"/>
          <p:cNvSpPr/>
          <p:nvPr/>
        </p:nvSpPr>
        <p:spPr>
          <a:xfrm>
            <a:off x="502920" y="4343400"/>
            <a:ext cx="2011320" cy="45360"/>
          </a:xfrm>
          <a:prstGeom prst="rect">
            <a:avLst/>
          </a:prstGeom>
          <a:solidFill>
            <a:srgbClr val="6FB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46177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Sergey Matyukhin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02920" y="502920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300" b="0" u="none" strike="noStrike">
                <a:solidFill>
                  <a:srgbClr val="B9D7E6"/>
                </a:solidFill>
                <a:effectLst/>
                <a:uFillTx/>
                <a:latin typeface="Calibri"/>
              </a:rPr>
              <a:t>github.com/Smaturus/1c-mcp-rag-search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300" b="0" u="none" strike="noStrike">
                <a:solidFill>
                  <a:srgbClr val="B9D7E6"/>
                </a:solidFill>
                <a:effectLst/>
                <a:uFillTx/>
                <a:latin typeface="Calibri"/>
              </a:rPr>
              <a:t>MCP Python SDK  ·  Chroma  ·  multilingual-e5-small  ·  BM25  ·  RRF  ·  flashrank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Задача и что получилось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2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502920" y="1234440"/>
            <a:ext cx="5394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Проблема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Выгрузка 1С — тысячи .bsl-модулей и отчёт на десятки мегабайт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Обычный grep не отвечает на смысловые вопросы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Готовые поисковые решения требуют развёртывания и внешних API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LLM-агенту нужен инструмент с предсказуемым качеством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6263640" y="1234440"/>
            <a:ext cx="5394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Решение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Свой MCP-сервер (stdio): 9 инструментов, включая маршрутизацию запросов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Полностью локальный контур: e5-small + Chroma, работает на CPU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Гибридный поиск: cosine + BM25 через RRF; метаданные — из XML-выгрузки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Измеримость: gold-set, file-level метрики, разброс по прогонам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Проект в цифрах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3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ounded Rectangle 5"/>
          <p:cNvSpPr/>
          <p:nvPr/>
        </p:nvSpPr>
        <p:spPr>
          <a:xfrm>
            <a:off x="502920" y="1371600"/>
            <a:ext cx="2605680" cy="169128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179 586</a:t>
            </a:r>
            <a:endParaRPr lang="ru-RU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чанков в индексе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6"/>
          <p:cNvSpPr/>
          <p:nvPr/>
        </p:nvSpPr>
        <p:spPr>
          <a:xfrm>
            <a:off x="3291840" y="1371600"/>
            <a:ext cx="2605680" cy="169128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0.442</a:t>
            </a:r>
            <a:endParaRPr lang="ru-RU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nDCG@10 у hybrid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7"/>
          <p:cNvSpPr/>
          <p:nvPr/>
        </p:nvSpPr>
        <p:spPr>
          <a:xfrm>
            <a:off x="6080760" y="1371600"/>
            <a:ext cx="2605680" cy="169128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68/68</a:t>
            </a:r>
            <a:endParaRPr lang="ru-RU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кейсов маршрутизации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8"/>
          <p:cNvSpPr/>
          <p:nvPr/>
        </p:nvSpPr>
        <p:spPr>
          <a:xfrm>
            <a:off x="8869680" y="1371600"/>
            <a:ext cx="2605680" cy="169128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45000" rIns="164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99,7 %</a:t>
            </a:r>
            <a:endParaRPr lang="ru-RU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BM25 Hit@3 метаданных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9"/>
          <p:cNvSpPr/>
          <p:nvPr/>
        </p:nvSpPr>
        <p:spPr>
          <a:xfrm>
            <a:off x="502920" y="3520440"/>
            <a:ext cx="111855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Стек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Эмбеддинги: intfloat/multilingual-e5-small (384d, префиксы query: / passage:)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Хранение: Chroma 1.5.9, HNSW cosine; лексика: собственный инвертированный индекс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Гибрид: Reciprocal Rank Fusion (k = 60); reranker: flashrank + ms-marco-MultiBERT-L-12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Интерфейс: MCP stdio (Cursor / ZCode), 9 инструментов; eval: 70 запросов, 4 конфигурации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Архитектура: два контура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4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5"/>
          <p:cNvSpPr/>
          <p:nvPr/>
        </p:nvSpPr>
        <p:spPr>
          <a:xfrm>
            <a:off x="502920" y="93276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B7FAE"/>
                </a:solidFill>
                <a:effectLst/>
                <a:uFillTx/>
                <a:latin typeface="Calibri"/>
              </a:rPr>
              <a:t>Индексация (offline)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6"/>
          <p:cNvSpPr/>
          <p:nvPr/>
        </p:nvSpPr>
        <p:spPr>
          <a:xfrm>
            <a:off x="502920" y="1325880"/>
            <a:ext cx="228564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Выгрузка 1С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.bsl + отчёт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ight Arrow 7"/>
          <p:cNvSpPr/>
          <p:nvPr/>
        </p:nvSpPr>
        <p:spPr>
          <a:xfrm>
            <a:off x="2853000" y="1600200"/>
            <a:ext cx="2282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ounded Rectangle 8"/>
          <p:cNvSpPr/>
          <p:nvPr/>
        </p:nvSpPr>
        <p:spPr>
          <a:xfrm>
            <a:off x="3154680" y="1325880"/>
            <a:ext cx="155412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chunking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ight Arrow 9"/>
          <p:cNvSpPr/>
          <p:nvPr/>
        </p:nvSpPr>
        <p:spPr>
          <a:xfrm>
            <a:off x="4773240" y="1600200"/>
            <a:ext cx="2282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ounded Rectangle 10"/>
          <p:cNvSpPr/>
          <p:nvPr/>
        </p:nvSpPr>
        <p:spPr>
          <a:xfrm>
            <a:off x="5074920" y="1325880"/>
            <a:ext cx="155412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e5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(passage:)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ight Arrow 11"/>
          <p:cNvSpPr/>
          <p:nvPr/>
        </p:nvSpPr>
        <p:spPr>
          <a:xfrm>
            <a:off x="6693480" y="1600200"/>
            <a:ext cx="2282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6995160" y="1325880"/>
            <a:ext cx="155412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Chroma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cosine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ight Arrow 13"/>
          <p:cNvSpPr/>
          <p:nvPr/>
        </p:nvSpPr>
        <p:spPr>
          <a:xfrm>
            <a:off x="8613720" y="1600200"/>
            <a:ext cx="2282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Rounded Rectangle 14"/>
          <p:cNvSpPr/>
          <p:nvPr/>
        </p:nvSpPr>
        <p:spPr>
          <a:xfrm>
            <a:off x="8915400" y="1325880"/>
            <a:ext cx="1737000" cy="77688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BM25 индекс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502920" y="260604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B7FAE"/>
                </a:solidFill>
                <a:effectLst/>
                <a:uFillTx/>
                <a:latin typeface="Calibri"/>
              </a:rPr>
              <a:t>Поиск (online, MCP stdio)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16"/>
          <p:cNvSpPr/>
          <p:nvPr/>
        </p:nvSpPr>
        <p:spPr>
          <a:xfrm>
            <a:off x="502920" y="2999160"/>
            <a:ext cx="137124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Запрос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ight Arrow 17"/>
          <p:cNvSpPr/>
          <p:nvPr/>
        </p:nvSpPr>
        <p:spPr>
          <a:xfrm>
            <a:off x="1929240" y="3291840"/>
            <a:ext cx="21924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Rounded Rectangle 18"/>
          <p:cNvSpPr/>
          <p:nvPr/>
        </p:nvSpPr>
        <p:spPr>
          <a:xfrm>
            <a:off x="2203560" y="2999160"/>
            <a:ext cx="137124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e5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(query:)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ight Arrow 19"/>
          <p:cNvSpPr/>
          <p:nvPr/>
        </p:nvSpPr>
        <p:spPr>
          <a:xfrm>
            <a:off x="3630240" y="3291840"/>
            <a:ext cx="21924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ounded Rectangle 20"/>
          <p:cNvSpPr/>
          <p:nvPr/>
        </p:nvSpPr>
        <p:spPr>
          <a:xfrm>
            <a:off x="3904560" y="2999160"/>
            <a:ext cx="191988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Chroma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cosine top-50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ight Arrow 21"/>
          <p:cNvSpPr/>
          <p:nvPr/>
        </p:nvSpPr>
        <p:spPr>
          <a:xfrm>
            <a:off x="5879520" y="3291840"/>
            <a:ext cx="21924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Rounded Rectangle 22"/>
          <p:cNvSpPr/>
          <p:nvPr/>
        </p:nvSpPr>
        <p:spPr>
          <a:xfrm>
            <a:off x="6153840" y="2999160"/>
            <a:ext cx="127980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RRF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k = 60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ight Arrow 23"/>
          <p:cNvSpPr/>
          <p:nvPr/>
        </p:nvSpPr>
        <p:spPr>
          <a:xfrm>
            <a:off x="7489080" y="3291840"/>
            <a:ext cx="21924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24"/>
          <p:cNvSpPr/>
          <p:nvPr/>
        </p:nvSpPr>
        <p:spPr>
          <a:xfrm>
            <a:off x="7763400" y="2999160"/>
            <a:ext cx="146268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rerank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(опция)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ight Arrow 25"/>
          <p:cNvSpPr/>
          <p:nvPr/>
        </p:nvSpPr>
        <p:spPr>
          <a:xfrm>
            <a:off x="9281160" y="3291840"/>
            <a:ext cx="219240" cy="219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ounded Rectangle 26"/>
          <p:cNvSpPr/>
          <p:nvPr/>
        </p:nvSpPr>
        <p:spPr>
          <a:xfrm>
            <a:off x="9555480" y="2999160"/>
            <a:ext cx="1188360" cy="8226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top-k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27"/>
          <p:cNvSpPr/>
          <p:nvPr/>
        </p:nvSpPr>
        <p:spPr>
          <a:xfrm>
            <a:off x="4160520" y="4343400"/>
            <a:ext cx="1919880" cy="7311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BM25 top-50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Up Arrow 28"/>
          <p:cNvSpPr/>
          <p:nvPr/>
        </p:nvSpPr>
        <p:spPr>
          <a:xfrm>
            <a:off x="4974480" y="3960000"/>
            <a:ext cx="255600" cy="27396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1B7FA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Box 29"/>
          <p:cNvSpPr/>
          <p:nvPr/>
        </p:nvSpPr>
        <p:spPr>
          <a:xfrm>
            <a:off x="502920" y="5257800"/>
            <a:ext cx="111855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Сверху — офлайн-подготовка индексов; ниже — онлайн-путь запроса. RRF объединяет два независимых ранжирования, reranker подключается опционально. Все данные и вычисления локальные: внешних API нет.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Индексы: векторы и лексика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5"/>
          <p:cNvSpPr/>
          <p:nvPr/>
        </p:nvSpPr>
        <p:spPr>
          <a:xfrm>
            <a:off x="502920" y="11430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Chroma (векторный)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6"/>
          <p:cNvSpPr/>
          <p:nvPr/>
        </p:nvSpPr>
        <p:spPr>
          <a:xfrm>
            <a:off x="502920" y="1600200"/>
            <a:ext cx="5394600" cy="438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179 586 чанков: code 154 560 (процедуры), metadata 25 026 (XML)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e5-small: 384 измерения, лимит 512 токенов на чанк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Проверка: 32,1 % чанков были длиннее лимита — исправлено нарезкой по процедурам (ADR 0007)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Префиксы e5 сохранены: passage: для документов, query: для запросов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HNSW cosine; sync_threshold = 1e6 — защита от бага chroma#7090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Размер базы 2.3 ГБ; старт пересобирает HNSW из WAL (~60–70 с)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7"/>
          <p:cNvSpPr/>
          <p:nvPr/>
        </p:nvSpPr>
        <p:spPr>
          <a:xfrm>
            <a:off x="6309360" y="11430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BM25 (лексический)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8"/>
          <p:cNvSpPr/>
          <p:nvPr/>
        </p:nvSpPr>
        <p:spPr>
          <a:xfrm>
            <a:off x="6309360" y="1600200"/>
            <a:ext cx="5394600" cy="438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Инвертированный индекс: 236 320 термов, 10,6 млн постингов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Сборка 22 с, 81 МБ на диске, читает документы прямо из sqlite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Токенизация под 1С: кириллица, цифры, коды через дефис (НФ-001)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Скоринг только по постингам запроса — без полного перебора корпуса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Используется как второй источник ранжирования в RRF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MCP-сервер: инструменты для агента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9" name="Table 5"/>
          <p:cNvGraphicFramePr/>
          <p:nvPr/>
        </p:nvGraphicFramePr>
        <p:xfrm>
          <a:off x="502920" y="1188720"/>
          <a:ext cx="11185560" cy="2743200"/>
        </p:xfrm>
        <a:graphic>
          <a:graphicData uri="http://schemas.openxmlformats.org/drawingml/2006/table">
            <a:tbl>
              <a:tblPr/>
              <a:tblGrid>
                <a:gridCol w="4411080"/>
                <a:gridCol w="677448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Инструмент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Что делает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search_1c_metadata(query, limit)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grep-подобный BM25: точные имена, проводки, движения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search_knowledge_base(query, limit)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vector: «как сделать», «почему не работает», инструкции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search_hybrid(query, limit)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RRF: лучший для exact-имён; на новом корпусе vector впереди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route_query(query)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объясняет выбор: маршрут, причина, уверенность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search / index_stats / evaluate_retrieval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поиск, состав индекса и метрики по запросу</a:t>
                      </a:r>
                      <a:endParaRPr lang="ru-RU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TextBox 6"/>
          <p:cNvSpPr/>
          <p:nvPr/>
        </p:nvSpPr>
        <p:spPr>
          <a:xfrm>
            <a:off x="502920" y="4114800"/>
            <a:ext cx="111855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Подключение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stdio-транспорт: сервер поднимается клиентом (Cursor mcp.json, ZCode mcp.servers)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Маршрутизация — код с тестами: 68 кейсов, 100 %; blind 20/20 после правок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Пример: route_query("проводки документа РеализацияТоваровУслуг") → search_1c_metadata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Гибридный поиск: Reciprocal Rank Fusion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7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502920" y="118872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score(d) = Σ 1 / (k + rank_i(d)),   k = 60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502920" y="2103120"/>
            <a:ext cx="566892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Почему RRF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Cosine и BM25 дают скоры в несравнимых шкалах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RRF использует только ранги — калибровка не нужна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Точные имена ловит BM25, смысл — cosine, RRF складывает оба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k = 60 сглаживает вклад первых позиций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6400800" y="2103120"/>
            <a:ext cx="530316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Что дало (nDCG@10)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Прежний корпус: hybrid 0.209 (+19 % к vector)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Новый корпус после фикса BM25: hybrid 0.442, vector 0.331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Причина прежнего «сдвига» — CamelCase-дефект токенизатора (ADR 0010)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Латентность: 50–120 мс/запрос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8"/>
          <p:cNvSpPr/>
          <p:nvPr/>
        </p:nvSpPr>
        <p:spPr>
          <a:xfrm>
            <a:off x="502920" y="4224600"/>
            <a:ext cx="11185560" cy="914040"/>
          </a:xfrm>
          <a:prstGeom prst="roundRect">
            <a:avLst>
              <a:gd name="adj" fmla="val 16667"/>
            </a:avLst>
          </a:prstGeom>
          <a:solidFill>
            <a:srgbClr val="EAF2F7"/>
          </a:solidFill>
          <a:ln>
            <a:solidFill>
              <a:srgbClr val="D3E2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45000" rIns="18288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Пример. Запрос «ПередЗаписью»: BM25 поднимает модули с точным именем обработчика, cosine — смысловые совпадения. RRF складывает оба ранжирования без подбора весов.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Reranker: отрицательный результат, оставленный в отчёте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8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5"/>
          <p:cNvSpPr/>
          <p:nvPr/>
        </p:nvSpPr>
        <p:spPr>
          <a:xfrm>
            <a:off x="502920" y="1188720"/>
            <a:ext cx="56689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Как реализован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flashrank 0.2.10, ONNX на CPU, без PyTorch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ms-marco-MultiBERT-L-12, max_length = 128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Вход: 20 кандидатов RRF; пассаж = путь файла + код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Ленивая загрузка модели, кэш на диске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6400800" y="1188720"/>
            <a:ext cx="5303160" cy="27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Результат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A83A3A"/>
                </a:solidFill>
                <a:effectLst/>
                <a:uFillTx/>
                <a:latin typeface="Calibri"/>
              </a:rPr>
              <a:t>•  nDCG@10: 0.117 против 0.301 (замер до фикса BM25; не перезамерялся)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Латентность: ~2,4 с/запрос (×20 к vector)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Гипотеза: модель обучена на веб-пассажах, а BSL — длинный повторяющийся код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•  Решение: режим оставлен опцией (ADR 0002)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Пайплайн не «крутился» под результат: отрицательный замер  сохранён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Как измеряли качество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9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5"/>
          <p:cNvSpPr/>
          <p:nvPr/>
        </p:nvSpPr>
        <p:spPr>
          <a:xfrm>
            <a:off x="502920" y="1188720"/>
            <a:ext cx="566892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Данные и метрики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gold-set v2: 70 запросов (30 курируемых + 40 по объектам конфигурации)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Три типа: exact (точное имя), semantic (смысл), trap (ловушка)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Релевантность — на уровне файла-источника, а не отдельного чанка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Метрики: Hit@1, MRR@10, nDCG@10, Recall@10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Каждый прогон — новый процесс: HNSW пересобирается; 4 прогона, mean ± std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6"/>
          <p:cNvSpPr/>
          <p:nvPr/>
        </p:nvSpPr>
        <p:spPr>
          <a:xfrm>
            <a:off x="6400800" y="1188720"/>
            <a:ext cx="530316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Почему так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Чанковые эталоны давали ложно-нулевые метрики: правильный файл «не засчитывался»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Файловая релевантность устойчива к смене chunk_size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Recall@k нормирован на min(|relevant|, k)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Разброс ±0.023 у vector — вывод воспроизводим, а не случайная удача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Результаты на gold-set v2 (70 запросов, k = 10)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10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5" name="Table 5"/>
          <p:cNvGraphicFramePr/>
          <p:nvPr/>
        </p:nvGraphicFramePr>
        <p:xfrm>
          <a:off x="502920" y="1188720"/>
          <a:ext cx="11185560" cy="2148480"/>
        </p:xfrm>
        <a:graphic>
          <a:graphicData uri="http://schemas.openxmlformats.org/drawingml/2006/table">
            <a:tbl>
              <a:tblPr/>
              <a:tblGrid>
                <a:gridCol w="2363040"/>
                <a:gridCol w="1732680"/>
                <a:gridCol w="1732680"/>
                <a:gridCol w="1811520"/>
                <a:gridCol w="1811520"/>
                <a:gridCol w="1732680"/>
              </a:tblGrid>
              <a:tr h="429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Конфигурация</a:t>
                      </a:r>
                      <a:endParaRPr lang="ru-RU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Hit@1</a:t>
                      </a:r>
                      <a:endParaRPr lang="ru-RU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MRR@10</a:t>
                      </a:r>
                      <a:endParaRPr lang="ru-RU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nDCG@10</a:t>
                      </a:r>
                      <a:endParaRPr lang="ru-RU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Recall@10</a:t>
                      </a:r>
                      <a:endParaRPr lang="ru-RU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мс/запрос</a:t>
                      </a:r>
                      <a:endParaRPr lang="ru-RU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3D5C"/>
                    </a:solidFill>
                  </a:tcPr>
                </a:tc>
              </a:tr>
              <a:tr h="429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vector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0.164 ± 0.018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0.266 ± 0.026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0.331 ± 0.028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0.511 ± 0.044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~100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pearson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0.207 ± 0.038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0.313 ± 0.039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0.383 ± 0.040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0.562 ± 0.053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~160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  <a:tr h="429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hybrid (RRF)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0.221 ± 0.008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0.368 ± 0.010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0.442 ± 0.012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0.652 ± 0.024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~105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lexical (BM25)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0.271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0.355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0.426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0.571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F2A33"/>
                          </a:solidFill>
                          <a:effectLst/>
                          <a:uFillTx/>
                          <a:latin typeface="Calibri"/>
                        </a:rPr>
                        <a:t>~17</a:t>
                      </a:r>
                      <a:endParaRPr lang="ru-R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6" name="Chart 6"/>
          <p:cNvGraphicFramePr/>
          <p:nvPr/>
        </p:nvGraphicFramePr>
        <p:xfrm>
          <a:off x="502920" y="3611880"/>
          <a:ext cx="7497720" cy="2651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57" name="TextBox 7"/>
          <p:cNvSpPr/>
          <p:nvPr/>
        </p:nvSpPr>
        <p:spPr>
          <a:xfrm>
            <a:off x="8229600" y="3657600"/>
            <a:ext cx="347436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Источник: data/eval/code_proc/report_stability.md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hybrid — лидер после фикса BM25.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Paired vector−hybrid: Δ −0.112,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p = 0.0037.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Reranker — опция: на старом корпусе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lang="en-US" sz="12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ухудшал качество.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Решения и ограничения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11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502920" y="1097280"/>
            <a:ext cx="5668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Decision Log (ADR)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502920" y="1508760"/>
            <a:ext cx="566892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0001: RRF вместо взвешенного Pearson — выше метрики, без калибровки весов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0002: reranker оставлен опцией — ухудшает качество на BSL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0003: релевантность на уровне файла — устойчивые и воспроизводимые метрики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0006: маршрутизация запросов — код с тестами вместо текста промпта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0007: нарезка по процедурам — устранён лимит 512 токенов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0008: метаданные из XML — BM25 Hit@3 93,0 → 99,7 %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0009: смена корпуса — отклонена: дефект BM25-токенизатора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0010: CamelCase-aware BM25 — hybrid снова лидер (0.442 против 0.331)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7"/>
          <p:cNvSpPr/>
          <p:nvPr/>
        </p:nvSpPr>
        <p:spPr>
          <a:xfrm>
            <a:off x="6400800" y="109728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Ограничения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8"/>
          <p:cNvSpPr/>
          <p:nvPr/>
        </p:nvSpPr>
        <p:spPr>
          <a:xfrm>
            <a:off x="6400800" y="1508760"/>
            <a:ext cx="530316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HNSW не персистится на диск: старт процесса ~60–70 с (защита от chroma#7090)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Gold-set частично синтетический, абсолютные метрики скромные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Один писатель индекса; параллельная индексация не поддерживается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Нет инкрементальной индексации: полная пересборка — часы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Reranker для кода — следующий контур (модель на коде или fine-tune)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v3 hold-out: роутер 58/100; quoted-name кейсы уходят в hybrid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91400" cy="145800"/>
          </a:xfrm>
          <a:prstGeom prst="rect">
            <a:avLst/>
          </a:prstGeom>
          <a:solidFill>
            <a:srgbClr val="0F3D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2"/>
          <p:cNvSpPr/>
          <p:nvPr/>
        </p:nvSpPr>
        <p:spPr>
          <a:xfrm>
            <a:off x="502920" y="347400"/>
            <a:ext cx="11185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Итоги и развитие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50292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MCP + RAG for 1C  ·  Sergey Matyukhin  · 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10957320" y="640080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B6770"/>
                </a:solidFill>
                <a:effectLst/>
                <a:uFillTx/>
                <a:latin typeface="Calibri"/>
              </a:rPr>
              <a:t>12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5"/>
          <p:cNvSpPr/>
          <p:nvPr/>
        </p:nvSpPr>
        <p:spPr>
          <a:xfrm>
            <a:off x="502920" y="1188720"/>
            <a:ext cx="111855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Что сделано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MCP-сервер с 9 инструментами и локальным индексом на 179 тыс. чанков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Гибридный retrieval: глобальный BM25 + RRF + опциональный cross-encoder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Маршрутизация: контракт с тестами, 68 кейсов + blind 20/20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Eval-контур: gold-set v2 (70 запросов), file-level метрики, mean ± std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Инженерная обвязка: 74 теста, ruff, mypy, complexity-гейт, CI, ADR, CHANGELOG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6"/>
          <p:cNvSpPr/>
          <p:nvPr/>
        </p:nvSpPr>
        <p:spPr>
          <a:xfrm>
            <a:off x="502920" y="4160520"/>
            <a:ext cx="111855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3D5C"/>
                </a:solidFill>
                <a:effectLst/>
                <a:uFillTx/>
                <a:latin typeface="Calibri"/>
              </a:rPr>
              <a:t>Развитие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Перезамерить symbolic/metadata исправленным BM25; проверить веса RRF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Инкрементальная индексация и структурные инструменты (get_metadata, find_callers)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920" indent="-259920"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F2A33"/>
                </a:solidFill>
                <a:effectLst/>
                <a:uFillTx/>
                <a:latin typeface="Calibri"/>
              </a:rPr>
              <a:t>•  Код-ориентированные эмбеддинги; reranker на коде; ручная разметка 100+ запросов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7"/>
          <p:cNvSpPr/>
          <p:nvPr/>
        </p:nvSpPr>
        <p:spPr>
          <a:xfrm>
            <a:off x="502920" y="5806440"/>
            <a:ext cx="11185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B7FAE"/>
                </a:solidFill>
                <a:effectLst/>
                <a:uFillTx/>
                <a:latin typeface="Calibri"/>
              </a:rPr>
              <a:t>github.com/Smaturus/1c-mcp-rag-search  ·  smaturus@gmail.com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LibreOffice/26.2.6.3$Windows_X86_64 LibreOffice_project/8221e31b3ac356a1623c672912a3d2b492f7e3d1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/>
  <dcterms:modified xsi:type="dcterms:W3CDTF">2026-10-31T09:55:49Z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