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nDCG@10 по конфигурациям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1B7FAE"/>
            </a:solidFill>
          </c:spPr>
          <c:cat>
            <c:strRef>
              <c:f>Sheet1!$A$2:$A$5</c:f>
              <c:strCache>
                <c:ptCount val="4"/>
                <c:pt idx="0">
                  <c:v>vector</c:v>
                </c:pt>
                <c:pt idx="1">
                  <c:v>pearson</c:v>
                </c:pt>
                <c:pt idx="2">
                  <c:v>hybrid</c:v>
                </c:pt>
                <c:pt idx="3">
                  <c:v>hybrid_rerank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0.331</c:v>
                </c:pt>
                <c:pt idx="1">
                  <c:v>0.383</c:v>
                </c:pt>
                <c:pt idx="2">
                  <c:v>0.442</c:v>
                </c:pt>
                <c:pt idx="3">
                  <c:v>0.117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Учебный и портфолио-проект: свой MCP-сервер и RAG-контур для поиска по выгрузке 1С. Главная идея: не просто «поиск работает», а измеренное качество и документированные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Формулирую задачу как инженерную: нужен инструмент для агента и способ доказать, что он ищет хорошо. Поэтому в проекте две равные части — MCP и retrieval-пайплайн с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Ключевые числа проекта: 179 586 чанков — 154 560 кода (процедурная нарезка) и 25 026 метаданных (XML). После фикса BM25 лидер — hybrid 0.442 (ADR 0010).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контура: офлайн индексация и онлайн поиск. Важно: BM25 — глобальный индекс по всем чанкам, а не переранжирование кандидатов cosine, иначе RRF был бы бессмысленным.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независимых индекса: семантика и лексика. BM25 собирается отдельным скриптом, не входит в git и пересобирается за 22 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Девять инструментов. Ключевое отличие от обычного MCP-сервера — явный контракт маршрутизации: выбор инструмента объясним и проверяется тестами.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RRF — центральное решение проекта. Складываем не скоры, а позиции; поэтому не нужно подбирать веса. На прежнем корпусе прирост был +19 %; «смена лидера» оказалась дефектом BM25 и отклонена (ADR 0010).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честный отрицательный результат: reranker ухудшает качество на нашем домене. Именно он показывает инженерную зрелость: измеряем, фиксируем, не подгоняем.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Методика важнее цифр: мы показываем, как посчитаны метрики и какой у них разброс. Первая версия gold-set была с дефектом — исправили и задокументировали в ADR 0003.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Таблица и график после фикса BM25. Hybrid впереди (0.442); paired-тест значим (p = 0.0037). Reranker проигрывает.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Открытость про ограничения — сильная сторона: видно, что мы понимаем границы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Финальный слайд: что сделано, что дальше, где посмотреть код. Главный вывод — измеримость: каждое решение подтверждено цифрами и записано в ADR.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1118585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Calibri"/>
              </a:rPr>
              <a:t>MCP + RAG для 1С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80360"/>
            <a:ext cx="111858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FE4EF"/>
                </a:solidFill>
                <a:latin typeface="Calibri"/>
              </a:rPr>
              <a:t>Локальный поиск по BSL-коду и метаданным:
гибрид BM25 + cosine через RRF и честная оценка качества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343400"/>
            <a:ext cx="2011680" cy="45720"/>
          </a:xfrm>
          <a:prstGeom prst="rect">
            <a:avLst/>
          </a:prstGeom>
          <a:solidFill>
            <a:srgbClr val="6FB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6177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Sergey Matyukhin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B9D7E6"/>
                </a:solidFill>
                <a:latin typeface="Calibri"/>
              </a:rPr>
              <a:t>github.com/Smaturus/1c-mcp-rag-search
MCP Python SDK  ·  Chroma  ·  multilingual-e5-small  ·  BM25  ·  RRF  ·  flashrank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3D5C"/>
                </a:solidFill>
                <a:latin typeface="Calibri"/>
              </a:rPr>
              <a:t>Задача и что получилось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MCP + RAG for 1C  ·  Sergey Matyukhin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3D5C"/>
                </a:solidFill>
                <a:latin typeface="Calibri"/>
              </a:rPr>
              <a:t>Проблема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Выгрузка 1С — тысячи .bsl-модулей и отчёт на десятки мегабайт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Обычный grep не отвечает на смысловые вопросы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Готовые поисковые решения требуют развёртывания и внешних API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LLM-агенту нужен инструмент с предсказуемым качеством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3D5C"/>
                </a:solidFill>
                <a:latin typeface="Calibri"/>
              </a:rPr>
              <a:t>Решение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Свой MCP-сервер (stdio): 9 инструментов, включая маршрутизацию запросов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Полностью локальный контур: e5-small + Chroma, работает на CPU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Гибридный поиск: cosine + BM25 через RRF; метаданные — из XML-выгрузки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Измеримость: gold-set, file-level метрики, разброс по прогонам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3D5C"/>
                </a:solidFill>
                <a:latin typeface="Calibri"/>
              </a:rPr>
              <a:t>Проект в цифрах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MCP + RAG for 1C  ·  Sergey Matyukhin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400" b="1">
                <a:solidFill>
                  <a:srgbClr val="0F3D5C"/>
                </a:solidFill>
                <a:latin typeface="Calibri"/>
              </a:rPr>
              <a:t>179 586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5B6770"/>
                </a:solidFill>
                <a:latin typeface="Calibri"/>
              </a:rPr>
              <a:t>чанков в индексе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400" b="1">
                <a:solidFill>
                  <a:srgbClr val="0F3D5C"/>
                </a:solidFill>
                <a:latin typeface="Calibri"/>
              </a:rPr>
              <a:t>0.442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5B6770"/>
                </a:solidFill>
                <a:latin typeface="Calibri"/>
              </a:rPr>
              <a:t>nDCG@10 у hybrid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716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400" b="1">
                <a:solidFill>
                  <a:srgbClr val="0F3D5C"/>
                </a:solidFill>
                <a:latin typeface="Calibri"/>
              </a:rPr>
              <a:t>68/68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5B6770"/>
                </a:solidFill>
                <a:latin typeface="Calibri"/>
              </a:rPr>
              <a:t>кейсов маршрутизации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3716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400" b="1">
                <a:solidFill>
                  <a:srgbClr val="0F3D5C"/>
                </a:solidFill>
                <a:latin typeface="Calibri"/>
              </a:rPr>
              <a:t>99,7 %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5B6770"/>
                </a:solidFill>
                <a:latin typeface="Calibri"/>
              </a:rPr>
              <a:t>BM25 Hit@3 метаданных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20440"/>
            <a:ext cx="11185855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3D5C"/>
                </a:solidFill>
                <a:latin typeface="Calibri"/>
              </a:rPr>
              <a:t>Стек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Эмбеддинги: intfloat/multilingual-e5-small (384d, префиксы query: / passage:)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Хранение: Chroma 1.5.9, HNSW cosine; лексика: собственный инвертированный индекс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Гибрид: Reciprocal Rank Fusion (k = 60); reranker: flashrank + ms-marco-MultiBERT-L-12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Интерфейс: MCP stdio (Cursor / ZCode), 9 инструментов; eval: 70 запросов, 4 конфигурации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3D5C"/>
                </a:solidFill>
                <a:latin typeface="Calibri"/>
              </a:rPr>
              <a:t>Архитектура: два контура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MCP + RAG for 1C  ·  Sergey Matyukhin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7FAE"/>
                </a:solidFill>
                <a:latin typeface="Calibri"/>
              </a:rPr>
              <a:t>Индексация (offline)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EAF2F7"/>
          </a:solidFill>
          <a:ln w="12700">
            <a:solidFill>
              <a:srgbClr val="1B7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Выгрузка 1С</a:t>
            </a:r>
          </a:p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.bsl + отчёт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52928" y="1600200"/>
            <a:ext cx="228600" cy="228600"/>
          </a:xfrm>
          <a:prstGeom prst="rightArrow">
            <a:avLst/>
          </a:prstGeom>
          <a:solidFill>
            <a:srgbClr val="1B7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54680" y="132588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EAF2F7"/>
          </a:solidFill>
          <a:ln w="12700">
            <a:solidFill>
              <a:srgbClr val="1B7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chunking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73168" y="1600200"/>
            <a:ext cx="228600" cy="228600"/>
          </a:xfrm>
          <a:prstGeom prst="rightArrow">
            <a:avLst/>
          </a:prstGeom>
          <a:solidFill>
            <a:srgbClr val="1B7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32588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EAF2F7"/>
          </a:solidFill>
          <a:ln w="12700">
            <a:solidFill>
              <a:srgbClr val="1B7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e5</a:t>
            </a:r>
          </a:p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(passage:)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693408" y="1600200"/>
            <a:ext cx="228600" cy="228600"/>
          </a:xfrm>
          <a:prstGeom prst="rightArrow">
            <a:avLst/>
          </a:prstGeom>
          <a:solidFill>
            <a:srgbClr val="1B7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95160" y="132588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EAF2F7"/>
          </a:solidFill>
          <a:ln w="12700">
            <a:solidFill>
              <a:srgbClr val="1B7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Chroma</a:t>
            </a:r>
          </a:p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cosine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13648" y="1600200"/>
            <a:ext cx="228600" cy="228600"/>
          </a:xfrm>
          <a:prstGeom prst="rightArrow">
            <a:avLst/>
          </a:prstGeom>
          <a:solidFill>
            <a:srgbClr val="1B7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15400" y="132588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EAF2F7"/>
          </a:solidFill>
          <a:ln w="12700">
            <a:solidFill>
              <a:srgbClr val="1B7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BM25 индекс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06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B7FAE"/>
                </a:solidFill>
                <a:latin typeface="Calibri"/>
              </a:rPr>
              <a:t>Поиск (online, MCP stdio)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99232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E3F0F6"/>
          </a:solidFill>
          <a:ln w="12700">
            <a:solidFill>
              <a:srgbClr val="1B7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Запрос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929384" y="3291840"/>
            <a:ext cx="219456" cy="219456"/>
          </a:xfrm>
          <a:prstGeom prst="rightArrow">
            <a:avLst/>
          </a:prstGeom>
          <a:solidFill>
            <a:srgbClr val="1B7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03704" y="2999232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E3F0F6"/>
          </a:solidFill>
          <a:ln w="12700">
            <a:solidFill>
              <a:srgbClr val="1B7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e5</a:t>
            </a:r>
          </a:p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(query:)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630168" y="3291840"/>
            <a:ext cx="219456" cy="219456"/>
          </a:xfrm>
          <a:prstGeom prst="rightArrow">
            <a:avLst/>
          </a:prstGeom>
          <a:solidFill>
            <a:srgbClr val="1B7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04488" y="2999232"/>
            <a:ext cx="1920240" cy="822960"/>
          </a:xfrm>
          <a:prstGeom prst="roundRect">
            <a:avLst>
              <a:gd name="adj" fmla="val 12000"/>
            </a:avLst>
          </a:prstGeom>
          <a:solidFill>
            <a:srgbClr val="E3F0F6"/>
          </a:solidFill>
          <a:ln w="12700">
            <a:solidFill>
              <a:srgbClr val="1B7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Chroma</a:t>
            </a:r>
          </a:p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cosine top-50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79592" y="3291840"/>
            <a:ext cx="219456" cy="219456"/>
          </a:xfrm>
          <a:prstGeom prst="rightArrow">
            <a:avLst/>
          </a:prstGeom>
          <a:solidFill>
            <a:srgbClr val="1B7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53912" y="2999232"/>
            <a:ext cx="1280160" cy="822960"/>
          </a:xfrm>
          <a:prstGeom prst="roundRect">
            <a:avLst>
              <a:gd name="adj" fmla="val 12000"/>
            </a:avLst>
          </a:prstGeom>
          <a:solidFill>
            <a:srgbClr val="E3F0F6"/>
          </a:solidFill>
          <a:ln w="12700">
            <a:solidFill>
              <a:srgbClr val="1B7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RRF</a:t>
            </a:r>
          </a:p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k = 60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488936" y="3291840"/>
            <a:ext cx="219456" cy="219456"/>
          </a:xfrm>
          <a:prstGeom prst="rightArrow">
            <a:avLst/>
          </a:prstGeom>
          <a:solidFill>
            <a:srgbClr val="1B7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63256" y="2999232"/>
            <a:ext cx="1463040" cy="822960"/>
          </a:xfrm>
          <a:prstGeom prst="roundRect">
            <a:avLst>
              <a:gd name="adj" fmla="val 12000"/>
            </a:avLst>
          </a:prstGeom>
          <a:solidFill>
            <a:srgbClr val="E3F0F6"/>
          </a:solidFill>
          <a:ln w="12700">
            <a:solidFill>
              <a:srgbClr val="1B7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rerank</a:t>
            </a:r>
          </a:p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(опция)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81160" y="3291840"/>
            <a:ext cx="219456" cy="219456"/>
          </a:xfrm>
          <a:prstGeom prst="rightArrow">
            <a:avLst/>
          </a:prstGeom>
          <a:solidFill>
            <a:srgbClr val="1B7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55480" y="2999232"/>
            <a:ext cx="1188720" cy="822960"/>
          </a:xfrm>
          <a:prstGeom prst="roundRect">
            <a:avLst>
              <a:gd name="adj" fmla="val 12000"/>
            </a:avLst>
          </a:prstGeom>
          <a:solidFill>
            <a:srgbClr val="E3F0F6"/>
          </a:solidFill>
          <a:ln w="12700">
            <a:solidFill>
              <a:srgbClr val="1B7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top-k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4343400"/>
            <a:ext cx="1920240" cy="731520"/>
          </a:xfrm>
          <a:prstGeom prst="roundRect">
            <a:avLst>
              <a:gd name="adj" fmla="val 12000"/>
            </a:avLst>
          </a:prstGeom>
          <a:solidFill>
            <a:srgbClr val="E3F0F6"/>
          </a:solidFill>
          <a:ln w="12700">
            <a:solidFill>
              <a:srgbClr val="1B7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3"/>
                </a:solidFill>
                <a:latin typeface="Calibri"/>
              </a:rPr>
              <a:t>BM25 top-50</a:t>
            </a:r>
          </a:p>
        </p:txBody>
      </p:sp>
      <p:sp>
        <p:nvSpPr>
          <p:cNvPr id="29" name="Up Arrow 28"/>
          <p:cNvSpPr/>
          <p:nvPr/>
        </p:nvSpPr>
        <p:spPr>
          <a:xfrm>
            <a:off x="4974336" y="4187952"/>
            <a:ext cx="256032" cy="274320"/>
          </a:xfrm>
          <a:prstGeom prst="upArrow">
            <a:avLst/>
          </a:prstGeom>
          <a:solidFill>
            <a:srgbClr val="1B7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257800"/>
            <a:ext cx="1118585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770"/>
                </a:solidFill>
                <a:latin typeface="Calibri"/>
              </a:rPr>
              <a:t>Сверху — офлайн-подготовка индексов; ниже — онлайн-путь запроса. RRF объединяет два независимых ранжирования, reranker подключается опционально. Все данные и вычисления локальные: внешних API нет.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3D5C"/>
                </a:solidFill>
                <a:latin typeface="Calibri"/>
              </a:rPr>
              <a:t>Индексы: векторы и лексика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MCP + RAG for 1C  ·  Sergey Matyukhin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3D5C"/>
                </a:solidFill>
                <a:latin typeface="Calibri"/>
              </a:rPr>
              <a:t>Chroma (векторный)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394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A33"/>
                </a:solidFill>
                <a:latin typeface="Calibri"/>
              </a:rPr>
              <a:t/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179 586 чанков: code 154 560 (процедуры), metadata 25 026 (XML)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e5-small: 384 измерения, лимит 512 токенов на чанк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Проверка: 32,1 % чанков были длиннее лимита — исправлено нарезкой по процедурам (ADR 0007)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Префиксы e5 сохранены: passage: для документов, query: для запросов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HNSW cosine; sync_threshold = 1e6 — защита от бага chroma#7090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Размер базы 2.3 ГБ; старт пересобирает HNSW из WAL (~60–70 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3D5C"/>
                </a:solidFill>
                <a:latin typeface="Calibri"/>
              </a:rPr>
              <a:t>BM25 (лексический)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00200"/>
            <a:ext cx="5394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A33"/>
                </a:solidFill>
                <a:latin typeface="Calibri"/>
              </a:rPr>
              <a:t/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Инвертированный индекс: 219 968 термов, 6,6 млн постингов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Сборка 22 с, 58 МБ на диске, читает документы прямо из sqlite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Токенизация под 1С: кириллица, цифры, коды через дефис (НФ-001)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Скоринг только по постингам запроса — без полного перебора корпуса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Используется как второй источник ранжирования в RRF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3D5C"/>
                </a:solidFill>
                <a:latin typeface="Calibri"/>
              </a:rPr>
              <a:t>MCP-сервер: инструменты для агента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MCP + RAG for 1C  ·  Sergey Matyukhin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1323"/>
                <a:gridCol w="6774531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Инструмент</a:t>
                      </a:r>
                    </a:p>
                  </a:txBody>
                  <a:tcPr anchor="ctr"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Что делает</a:t>
                      </a:r>
                    </a:p>
                  </a:txBody>
                  <a:tcPr anchor="ctr">
                    <a:solidFill>
                      <a:srgbClr val="0F3D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search_1c_metadata(query, limit)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grep-подобный BM25: точные имена, проводки, движения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search_knowledge_base(query, limit)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vector: «как сделать», «почему не работает», инструкции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search_hybrid(query, limit)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RRF: лучший для exact-имён; на новом корпусе vector впереди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route_query(query)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объясняет выбор: маршрут, причина, уверенность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search / index_stats / evaluate_retrieval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поиск, состав индекса и метрики по запросу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14800"/>
            <a:ext cx="111858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3D5C"/>
                </a:solidFill>
                <a:latin typeface="Calibri"/>
              </a:rPr>
              <a:t>Подключение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stdio-транспорт: сервер поднимается клиентом (Cursor mcp.json, ZCode mcp.servers)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Маршрутизация — код с тестами: 68 кейсов, 100 %; blind 20/20 после правок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Пример: route_query("проводки документа РеализацияТоваровУслуг") → search_1c_metadata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3D5C"/>
                </a:solidFill>
                <a:latin typeface="Calibri"/>
              </a:rPr>
              <a:t>Гибридный поиск: Reciprocal Rank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MCP + RAG for 1C  ·  Sergey Matyukhin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0F3D5C"/>
                </a:solidFill>
                <a:latin typeface="Calibri"/>
              </a:rPr>
              <a:t>score(d) = Σ 1 / (k + rank_i(d)),   k =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669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3D5C"/>
                </a:solidFill>
                <a:latin typeface="Calibri"/>
              </a:rPr>
              <a:t>Почему RRF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Cosine и BM25 дают скоры в несравнимых шкалах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RRF использует только ранги — калибровка не нужна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Точные имена ловит BM25, смысл — cosine, RRF складывает оба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k = 60 сглаживает вклад первых позиций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3035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3D5C"/>
                </a:solidFill>
                <a:latin typeface="Calibri"/>
              </a:rPr>
              <a:t>Что дало (nDCG@10)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Прежний корпус: hybrid 0.209 (+19 % к vector)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Новый корпус после фикса BM25: hybrid 0.442, vector 0.331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Причина прежнего «сдвига» — CamelCase-дефект токенизатора (ADR 0010)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Латентность: 50–120 мс/запрос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24528"/>
            <a:ext cx="11185855" cy="914400"/>
          </a:xfrm>
          <a:prstGeom prst="roundRect">
            <a:avLst/>
          </a:prstGeom>
          <a:solidFill>
            <a:srgbClr val="EAF2F7"/>
          </a:solidFill>
          <a:ln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400">
                <a:solidFill>
                  <a:srgbClr val="1F2A33"/>
                </a:solidFill>
                <a:latin typeface="Calibri"/>
              </a:rPr>
              <a:t>Пример. Запрос «ПередЗаписью»: BM25 поднимает модули с точным именем обработчика, cosine — смысловые совпадения. RRF складывает оба ранжирования без подбора весов.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3D5C"/>
                </a:solidFill>
                <a:latin typeface="Calibri"/>
              </a:rPr>
              <a:t>Reranker: отрицательный результат, оставленный в отчёте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MCP + RAG for 1C  ·  Sergey Matyukhin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6692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3D5C"/>
                </a:solidFill>
                <a:latin typeface="Calibri"/>
              </a:rPr>
              <a:t>Как реализован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flashrank 0.2.10, ONNX на CPU, без PyTorch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ms-marco-MultiBERT-L-12, max_length = 128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Вход: 20 кандидатов RRF; пассаж = путь файла + код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Ленивая загрузка модели, кэш на диске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3D5C"/>
                </a:solidFill>
                <a:latin typeface="Calibri"/>
              </a:rPr>
              <a:t>Результат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A83A3A"/>
                </a:solidFill>
                <a:latin typeface="Calibri"/>
              </a:rPr>
              <a:t>•  nDCG@10: 0.117 против 0.301 (замер до фикса BM25; не перезамерялся)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Латентность: ~2,4 с/запрос (×20 к vector)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Гипотеза: модель обучена на веб-пассажах, а BSL — длинный повторяющийся код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0F3D5C"/>
                </a:solidFill>
                <a:latin typeface="Calibri"/>
              </a:rPr>
              <a:t>•  Решение: режим оставлен опцией; дефолт пересматривается (ADR 0002, 0009)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5B6770"/>
                </a:solidFill>
                <a:latin typeface="Calibri"/>
              </a:rPr>
              <a:t>•  Пайплайн не «крутился» под результат: проигравшая конфигурация осталась в таблице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3D5C"/>
                </a:solidFill>
                <a:latin typeface="Calibri"/>
              </a:rPr>
              <a:t>Как измеряли качество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MCP + RAG for 1C  ·  Sergey Matyukhin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6692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3D5C"/>
                </a:solidFill>
                <a:latin typeface="Calibri"/>
              </a:rPr>
              <a:t>Данные и метрики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gold-set v2: 70 запросов (30 курируемых + 40 по объектам конфигурации)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Три типа: exact (точное имя), semantic (смысл), trap (ловушка)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Релевантность — на уровне файла-источника, а не отдельного чанка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Метрики: Hit@1, MRR@10, nDCG@10, Recall@10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Каждый прогон — новый процесс: HNSW пересобирается; 4 прогона, mean ± std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3D5C"/>
                </a:solidFill>
                <a:latin typeface="Calibri"/>
              </a:rPr>
              <a:t>Почему так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Чанковые эталоны давали ложно-нулевые метрики: правильный файл «не засчитывался»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Файловая релевантность устойчива к смене chunk_size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Recall@k нормирован на min(|relevant|, k)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F2A33"/>
                </a:solidFill>
                <a:latin typeface="Calibri"/>
              </a:rPr>
              <a:t>•  Разброс ±0.023 у vector — вывод воспроизводим, а не случайная удача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3D5C"/>
                </a:solidFill>
                <a:latin typeface="Calibri"/>
              </a:rPr>
              <a:t>Результаты на gold-set v2 (70 запросов, k = 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MCP + RAG for 1C  ·  Sergey Matyukhin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1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208"/>
                <a:gridCol w="1733019"/>
                <a:gridCol w="1733019"/>
                <a:gridCol w="1811793"/>
                <a:gridCol w="1811793"/>
                <a:gridCol w="1733019"/>
              </a:tblGrid>
              <a:tr h="3581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Конфигурация</a:t>
                      </a:r>
                    </a:p>
                  </a:txBody>
                  <a:tcPr anchor="ctr"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Hit@1</a:t>
                      </a:r>
                    </a:p>
                  </a:txBody>
                  <a:tcPr anchor="ctr"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MRR@10</a:t>
                      </a:r>
                    </a:p>
                  </a:txBody>
                  <a:tcPr anchor="ctr"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anchor="ctr"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Recall@10</a:t>
                      </a:r>
                    </a:p>
                  </a:txBody>
                  <a:tcPr anchor="ctr">
                    <a:solidFill>
                      <a:srgbClr val="0F3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мс/запрос</a:t>
                      </a:r>
                    </a:p>
                  </a:txBody>
                  <a:tcPr anchor="ctr">
                    <a:solidFill>
                      <a:srgbClr val="0F3D5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vector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0.157 ± 0.018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0.266 ± 0.026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0.331 ± 0.028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0.511 ± 0.044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~60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pearson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0.207 ± 0.038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0.313 ± 0.039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0.383 ± 0.040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0.562 ± 0.053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~90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hybrid (RRF)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0.221 ± 0.008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0.368 ± 0.010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0.442 ± 0.012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0.652 ± 0.024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~70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lexical (BM25)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0.271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0.355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0.426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0.571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~20</a:t>
                      </a:r>
                    </a:p>
                  </a:txBody>
                  <a:tcPr anchor="ctr">
                    <a:solidFill>
                      <a:srgbClr val="EA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hybrid_rerank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0.086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0.157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3"/>
                          </a:solidFill>
                          <a:latin typeface="Calibri"/>
                        </a:rPr>
                        <a:t>~2400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3611880"/>
          <a:ext cx="7498079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3657600"/>
            <a:ext cx="3474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770"/>
                </a:solidFill>
                <a:latin typeface="Calibri"/>
              </a:rPr>
              <a:t>Источник: data/eval/code_proc/report_pipeline.md
hybrid — лидер после фикса BM25.
Paired vector−hybrid: Δ −0.112,
p = 0.0037.
Reranker ухудшает качество.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3D5C"/>
                </a:solidFill>
                <a:latin typeface="Calibri"/>
              </a:rPr>
              <a:t>Решения и 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MCP + RAG for 1C  ·  Sergey Matyukhin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3D5C"/>
                </a:solidFill>
                <a:latin typeface="Calibri"/>
              </a:rPr>
              <a:t>Decision Log (ADR)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6692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A33"/>
                </a:solidFill>
                <a:latin typeface="Calibri"/>
              </a:rPr>
              <a:t/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0001: RRF вместо взвешенного Pearson — выше метрики, без калибровки весов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0002: reranker оставлен опцией — ухудшает качество на BSL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0003: релевантность на уровне файла — устойчивые и воспроизводимые метрики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0006: маршрутизация запросов — код с тестами вместо текста промпта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0007: нарезка по процедурам — устранён лимит 512 токенов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0008: метаданные из XML — BM25 Hit@3 93,0 → 99,7 %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0009: смена корпуса — отклонена: дефект BM25-токенизатора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0010: CamelCase-aware BM25 — hybrid снова лидер (0.442 против 0.331)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3D5C"/>
                </a:solidFill>
                <a:latin typeface="Calibri"/>
              </a:rPr>
              <a:t>Ограничения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3035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2A33"/>
                </a:solidFill>
                <a:latin typeface="Calibri"/>
              </a:rPr>
              <a:t/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HNSW не персистится на диск: старт процесса ~60–70 с (защита от chroma#7090)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Gold-set частично синтетический, абсолютные метрики скромные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Один писатель индекса; параллельная индексация не поддерживается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Нет инкрементальной индексации: полная пересборка — часы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Reranker для кода — следующий контур (модель на коде или fine-tune)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1F2A33"/>
                </a:solidFill>
                <a:latin typeface="Calibri"/>
              </a:rPr>
              <a:t>•  v3 hold-out: роутер 58/100; quoted-name кейсы уходят в hybrid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3D5C"/>
                </a:solidFill>
                <a:latin typeface="Calibri"/>
              </a:rPr>
              <a:t>Итоги и развитие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MCP + RAG for 1C  ·  Sergey Matyukhin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6770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3D5C"/>
                </a:solidFill>
                <a:latin typeface="Calibri"/>
              </a:rPr>
              <a:t>Что сделано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MCP-сервер с 9 инструментами и локальным индексом на 179 тыс. чанков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Гибридный retrieval: глобальный BM25 + RRF + опциональный cross-encoder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Маршрутизация: контракт с тестами, 68 кейсов + blind 20/20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Eval-контур: gold-set v2 (70 запросов), file-level метрики, mean ± std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Инженерная обвязка: 74 теста, ruff, mypy, complexity-гейт, CI, ADR, CHANGELOG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60520"/>
            <a:ext cx="1118585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3D5C"/>
                </a:solidFill>
                <a:latin typeface="Calibri"/>
              </a:rPr>
              <a:t>Развитие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Перезамерить symbolic/metadata исправленным BM25; проверить веса RRF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Инкрементальная индексация и структурные инструменты (get_metadata, find_callers)</a:t>
            </a:r>
          </a:p>
          <a:p>
            <a:pPr marL="260000" indent="-26000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1F2A33"/>
                </a:solidFill>
                <a:latin typeface="Calibri"/>
              </a:rPr>
              <a:t>•  Код-ориентированные эмбеддинги; reranker на коде; ручная разметка 100+ запросов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7FAE"/>
                </a:solidFill>
                <a:latin typeface="Calibri"/>
              </a:rPr>
              <a:t>github.com/Smaturus/1c-mcp-rag-search  ·  smaturus@gmail.com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